
<file path=[Content_Types].xml><?xml version="1.0" encoding="utf-8"?>
<Types xmlns="http://schemas.openxmlformats.org/package/2006/content-types">
  <Default Extension="fntdata" ContentType="application/x-fontdata"/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notesMasterIdLst>
    <p:notesMasterId r:id="rId11"/>
  </p:notesMasterIdLst>
  <p:sldSz cx="9144000" cy="5143500"/>
  <p:notesSz cx="5143500" cy="9144000"/>
  <p:embeddedFontLst>
    <p:embeddedFont>
      <p:font typeface="Bricolage Grotesque Semi Bold"/>
      <p:regular r:id="rId16"/>
    </p:embeddedFont>
    <p:embeddedFont>
      <p:font typeface="Bricolage Grotesque Semi Bold"/>
      <p:regular r:id="rId17"/>
    </p:embeddedFont>
    <p:embeddedFont>
      <p:font typeface="Inter"/>
      <p:regular r:id="rId18"/>
    </p:embeddedFont>
    <p:embeddedFont>
      <p:font typeface="Inter"/>
      <p:regular r:id="rId19"/>
    </p:embeddedFont>
    <p:embeddedFont>
      <p:font typeface="Inter"/>
      <p:regular r:id="rId20"/>
    </p:embeddedFont>
    <p:embeddedFont>
      <p:font typeface="Inter"/>
      <p:regular r:id="rId21"/>
    </p:embeddedFont>
  </p:embeddedFon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notesMaster" Target="notesMasters/notesMaster1.xml"/><Relationship Id="rId12" Type="http://schemas.openxmlformats.org/officeDocument/2006/relationships/presProps" Target="presProps.xml"/><Relationship Id="rId13" Type="http://schemas.openxmlformats.org/officeDocument/2006/relationships/viewProps" Target="viewProps.xml"/><Relationship Id="rId14" Type="http://schemas.openxmlformats.org/officeDocument/2006/relationships/theme" Target="theme/theme1.xml"/><Relationship Id="rId15" Type="http://schemas.openxmlformats.org/officeDocument/2006/relationships/tableStyles" Target="tableStyles.xml"/><Relationship Id="rId16" Type="http://schemas.openxmlformats.org/officeDocument/2006/relationships/font" Target="fonts/font1.fntdata"/><Relationship Id="rId17" Type="http://schemas.openxmlformats.org/officeDocument/2006/relationships/font" Target="fonts/font2.fntdata"/><Relationship Id="rId18" Type="http://schemas.openxmlformats.org/officeDocument/2006/relationships/font" Target="fonts/font3.fntdata"/><Relationship Id="rId19" Type="http://schemas.openxmlformats.org/officeDocument/2006/relationships/font" Target="fonts/font4.fntdata"/><Relationship Id="rId20" Type="http://schemas.openxmlformats.org/officeDocument/2006/relationships/font" Target="fonts/font5.fntdata"/><Relationship Id="rId21" Type="http://schemas.openxmlformats.org/officeDocument/2006/relationships/font" Target="fonts/font6.fntdata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2-1.png"/><Relationship Id="rId2" Type="http://schemas.openxmlformats.org/officeDocument/2006/relationships/image" Target="../media/image-1002-2.png"/><Relationship Id="rId4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3-1.png"/><Relationship Id="rId2" Type="http://schemas.openxmlformats.org/officeDocument/2006/relationships/image" Target="../media/image-1003-2.png"/><Relationship Id="rId4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4-1.png"/><Relationship Id="rId2" Type="http://schemas.openxmlformats.org/officeDocument/2006/relationships/image" Target="../media/image-1004-2.png"/><Relationship Id="rId4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5-1.png"/><Relationship Id="rId2" Type="http://schemas.openxmlformats.org/officeDocument/2006/relationships/image" Target="../media/image-1005-2.png"/><Relationship Id="rId4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6-1.png"/><Relationship Id="rId2" Type="http://schemas.openxmlformats.org/officeDocument/2006/relationships/image" Target="../media/image-1006-2.png"/><Relationship Id="rId4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7-1.png"/><Relationship Id="rId2" Type="http://schemas.openxmlformats.org/officeDocument/2006/relationships/image" Target="../media/image-1007-2.png"/><Relationship Id="rId4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8-1.png"/><Relationship Id="rId2" Type="http://schemas.openxmlformats.org/officeDocument/2006/relationships/image" Target="../media/image-1008-2.png"/><Relationship Id="rId4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9-1.png"/><Relationship Id="rId2" Type="http://schemas.openxmlformats.org/officeDocument/2006/relationships/image" Target="../media/image-1009-2.png"/><Relationship Id="rId4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10-1.png"/><Relationship Id="rId2" Type="http://schemas.openxmlformats.org/officeDocument/2006/relationships/image" Target="../media/image-1010-2.png"/><Relationship Id="rId4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FFF">
              <a:alpha val="95000"/>
            </a:srgbClr>
          </a:solidFill>
          <a:ln/>
        </p:spPr>
      </p:sp>
      <p:pic>
        <p:nvPicPr>
          <p:cNvPr id="4" name="Image 1" descr="preencoded.png">
            <a:hlinkClick r:id="rId3" tooltip=""/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029180" y="4844491"/>
            <a:ext cx="1071843" cy="256032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2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FFF">
              <a:alpha val="95000"/>
            </a:srgbClr>
          </a:solidFill>
          <a:ln/>
        </p:spPr>
      </p:sp>
      <p:pic>
        <p:nvPicPr>
          <p:cNvPr id="4" name="Image 1" descr="preencoded.png">
            <a:hlinkClick r:id="rId3" tooltip=""/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029180" y="4844491"/>
            <a:ext cx="1071843" cy="256032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3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FFF">
              <a:alpha val="95000"/>
            </a:srgbClr>
          </a:solidFill>
          <a:ln/>
        </p:spPr>
      </p:sp>
      <p:pic>
        <p:nvPicPr>
          <p:cNvPr id="4" name="Image 1" descr="preencoded.png">
            <a:hlinkClick r:id="rId3" tooltip=""/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029180" y="4844491"/>
            <a:ext cx="1071843" cy="256032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4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FFF">
              <a:alpha val="95000"/>
            </a:srgbClr>
          </a:solidFill>
          <a:ln/>
        </p:spPr>
      </p:sp>
      <p:pic>
        <p:nvPicPr>
          <p:cNvPr id="4" name="Image 1" descr="preencoded.png">
            <a:hlinkClick r:id="rId3" tooltip=""/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029180" y="4844491"/>
            <a:ext cx="1071843" cy="256032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5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FFF">
              <a:alpha val="95000"/>
            </a:srgbClr>
          </a:solidFill>
          <a:ln/>
        </p:spPr>
      </p:sp>
      <p:pic>
        <p:nvPicPr>
          <p:cNvPr id="4" name="Image 1" descr="preencoded.png">
            <a:hlinkClick r:id="rId3" tooltip=""/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029180" y="4844491"/>
            <a:ext cx="1071843" cy="256032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6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FFF">
              <a:alpha val="95000"/>
            </a:srgbClr>
          </a:solidFill>
          <a:ln/>
        </p:spPr>
      </p:sp>
      <p:pic>
        <p:nvPicPr>
          <p:cNvPr id="4" name="Image 1" descr="preencoded.png">
            <a:hlinkClick r:id="rId3" tooltip=""/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029180" y="4844491"/>
            <a:ext cx="1071843" cy="256032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7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FFF">
              <a:alpha val="95000"/>
            </a:srgbClr>
          </a:solidFill>
          <a:ln/>
        </p:spPr>
      </p:sp>
      <p:pic>
        <p:nvPicPr>
          <p:cNvPr id="4" name="Image 1" descr="preencoded.png">
            <a:hlinkClick r:id="rId3" tooltip=""/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029180" y="4844491"/>
            <a:ext cx="1071843" cy="256032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8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FFF">
              <a:alpha val="95000"/>
            </a:srgbClr>
          </a:solidFill>
          <a:ln/>
        </p:spPr>
      </p:sp>
      <p:pic>
        <p:nvPicPr>
          <p:cNvPr id="4" name="Image 1" descr="preencoded.png">
            <a:hlinkClick r:id="rId3" tooltip=""/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029180" y="4844491"/>
            <a:ext cx="1071843" cy="256032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9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FFF">
              <a:alpha val="95000"/>
            </a:srgbClr>
          </a:solidFill>
          <a:ln/>
        </p:spPr>
      </p:sp>
      <p:pic>
        <p:nvPicPr>
          <p:cNvPr id="4" name="Image 1" descr="preencoded.png">
            <a:hlinkClick r:id="rId3" tooltip=""/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029180" y="4844491"/>
            <a:ext cx="1071843" cy="256032"/>
          </a:xfrm>
          <a:prstGeom prst="rect">
            <a:avLst/>
          </a:prstGeom>
        </p:spPr>
      </p:pic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image" Target="../media/image-3-4.png"/><Relationship Id="rId5" Type="http://schemas.openxmlformats.org/officeDocument/2006/relationships/slideLayout" Target="../slideLayouts/slideLayout4.xml"/><Relationship Id="rId6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svg"/><Relationship Id="rId3" Type="http://schemas.openxmlformats.org/officeDocument/2006/relationships/image" Target="../media/image-5-3.png"/><Relationship Id="rId4" Type="http://schemas.openxmlformats.org/officeDocument/2006/relationships/image" Target="../media/image-5-4.svg"/><Relationship Id="rId5" Type="http://schemas.openxmlformats.org/officeDocument/2006/relationships/image" Target="../media/image-5-5.png"/><Relationship Id="rId6" Type="http://schemas.openxmlformats.org/officeDocument/2006/relationships/image" Target="../media/image-5-6.svg"/><Relationship Id="rId7" Type="http://schemas.openxmlformats.org/officeDocument/2006/relationships/image" Target="../media/image-5-7.png"/><Relationship Id="rId8" Type="http://schemas.openxmlformats.org/officeDocument/2006/relationships/image" Target="../media/image-5-8.svg"/><Relationship Id="rId9" Type="http://schemas.openxmlformats.org/officeDocument/2006/relationships/image" Target="../media/image-5-9.png"/><Relationship Id="rId10" Type="http://schemas.openxmlformats.org/officeDocument/2006/relationships/image" Target="../media/image-5-10.png"/><Relationship Id="rId11" Type="http://schemas.openxmlformats.org/officeDocument/2006/relationships/image" Target="../media/image-5-11.png"/><Relationship Id="rId12" Type="http://schemas.openxmlformats.org/officeDocument/2006/relationships/slideLayout" Target="../slideLayouts/slideLayout6.xml"/><Relationship Id="rId1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png"/><Relationship Id="rId3" Type="http://schemas.openxmlformats.org/officeDocument/2006/relationships/image" Target="../media/image-6-3.png"/><Relationship Id="rId4" Type="http://schemas.openxmlformats.org/officeDocument/2006/relationships/image" Target="../media/image-6-4.svg"/><Relationship Id="rId5" Type="http://schemas.openxmlformats.org/officeDocument/2006/relationships/image" Target="../media/image-6-5.png"/><Relationship Id="rId6" Type="http://schemas.openxmlformats.org/officeDocument/2006/relationships/image" Target="../media/image-6-6.png"/><Relationship Id="rId7" Type="http://schemas.openxmlformats.org/officeDocument/2006/relationships/image" Target="../media/image-6-7.svg"/><Relationship Id="rId8" Type="http://schemas.openxmlformats.org/officeDocument/2006/relationships/image" Target="../media/image-6-8.png"/><Relationship Id="rId9" Type="http://schemas.openxmlformats.org/officeDocument/2006/relationships/image" Target="../media/image-6-9.png"/><Relationship Id="rId10" Type="http://schemas.openxmlformats.org/officeDocument/2006/relationships/image" Target="../media/image-6-10.svg"/><Relationship Id="rId11" Type="http://schemas.openxmlformats.org/officeDocument/2006/relationships/slideLayout" Target="../slideLayouts/slideLayout7.xml"/><Relationship Id="rId1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8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image" Target="../media/image-8-2.png"/><Relationship Id="rId3" Type="http://schemas.openxmlformats.org/officeDocument/2006/relationships/image" Target="../media/image-8-3.png"/><Relationship Id="rId4" Type="http://schemas.openxmlformats.org/officeDocument/2006/relationships/image" Target="../media/image-8-4.png"/><Relationship Id="rId5" Type="http://schemas.openxmlformats.org/officeDocument/2006/relationships/slideLayout" Target="../slideLayouts/slideLayout9.xml"/><Relationship Id="rId6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slideLayout" Target="../slideLayouts/slideLayout10.xml"/><Relationship Id="rId3" Type="http://schemas.openxmlformats.org/officeDocument/2006/relationships/notesSlide" Target="../notesSlides/notesSlide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360045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3925119" y="1682204"/>
            <a:ext cx="4722763" cy="88597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450"/>
              </a:lnSpc>
              <a:buNone/>
            </a:pPr>
            <a:r>
              <a:rPr lang="en-US" sz="2750" dirty="0">
                <a:solidFill>
                  <a:srgbClr val="2C2926"/>
                </a:solidFill>
                <a:latin typeface="Bricolage Grotesque Semi Bold" pitchFamily="34" charset="0"/>
                <a:ea typeface="Bricolage Grotesque Semi Bold" pitchFamily="34" charset="-122"/>
                <a:cs typeface="Bricolage Grotesque Semi Bold" pitchFamily="34" charset="-120"/>
              </a:rPr>
              <a:t>Bike Sales Customer Behavior Analysis</a:t>
            </a:r>
            <a:endParaRPr lang="en-US" sz="2750" dirty="0"/>
          </a:p>
        </p:txBody>
      </p:sp>
      <p:sp>
        <p:nvSpPr>
          <p:cNvPr id="4" name="Text 1"/>
          <p:cNvSpPr/>
          <p:nvPr/>
        </p:nvSpPr>
        <p:spPr>
          <a:xfrm>
            <a:off x="3925119" y="2780779"/>
            <a:ext cx="4722763" cy="68044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750"/>
              </a:lnSpc>
              <a:buNone/>
            </a:pPr>
            <a:r>
              <a:rPr lang="en-US" sz="1100" dirty="0">
                <a:solidFill>
                  <a:srgbClr val="2C292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An Excel-based analytical project examining customer demographics, purchasing patterns, and business insights — presented by </a:t>
            </a:r>
            <a:pPr algn="l" indent="0" marL="0">
              <a:lnSpc>
                <a:spcPts val="1750"/>
              </a:lnSpc>
              <a:buNone/>
            </a:pPr>
            <a:r>
              <a:rPr lang="en-US" sz="1100" b="1" dirty="0">
                <a:solidFill>
                  <a:srgbClr val="2C292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Ashwin M</a:t>
            </a:r>
            <a:pPr algn="l" indent="0" marL="0">
              <a:lnSpc>
                <a:spcPts val="1750"/>
              </a:lnSpc>
              <a:buNone/>
            </a:pPr>
            <a:r>
              <a:rPr lang="en-US" sz="1100" dirty="0">
                <a:solidFill>
                  <a:srgbClr val="2C292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|</a:t>
            </a:r>
            <a:pPr algn="l" indent="0" marL="0">
              <a:lnSpc>
                <a:spcPts val="1750"/>
              </a:lnSpc>
              <a:buNone/>
            </a:pPr>
            <a:r>
              <a:rPr lang="en-US" sz="1100" b="1" dirty="0">
                <a:solidFill>
                  <a:srgbClr val="2C292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Data Analyst Batch · November 2025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34132" y="374228"/>
            <a:ext cx="1147763" cy="223317"/>
          </a:xfrm>
          <a:prstGeom prst="roundRect">
            <a:avLst>
              <a:gd name="adj" fmla="val 18664"/>
            </a:avLst>
          </a:prstGeom>
          <a:solidFill>
            <a:srgbClr val="F8ECD3"/>
          </a:solidFill>
          <a:ln/>
        </p:spPr>
      </p:sp>
      <p:sp>
        <p:nvSpPr>
          <p:cNvPr id="3" name="Text 1"/>
          <p:cNvSpPr/>
          <p:nvPr/>
        </p:nvSpPr>
        <p:spPr>
          <a:xfrm>
            <a:off x="508546" y="411435"/>
            <a:ext cx="998934" cy="148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150"/>
              </a:lnSpc>
              <a:buNone/>
            </a:pPr>
            <a:r>
              <a:rPr lang="en-US" sz="750" dirty="0">
                <a:solidFill>
                  <a:srgbClr val="2C292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PROJECT OVERVIEW</a:t>
            </a:r>
            <a:endParaRPr lang="en-US" sz="750" dirty="0"/>
          </a:p>
        </p:txBody>
      </p:sp>
      <p:sp>
        <p:nvSpPr>
          <p:cNvPr id="4" name="Text 2"/>
          <p:cNvSpPr/>
          <p:nvPr/>
        </p:nvSpPr>
        <p:spPr>
          <a:xfrm>
            <a:off x="434132" y="640928"/>
            <a:ext cx="3935909" cy="38754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3050"/>
              </a:lnSpc>
              <a:buNone/>
            </a:pPr>
            <a:r>
              <a:rPr lang="en-US" sz="2400" dirty="0">
                <a:solidFill>
                  <a:srgbClr val="2C2926"/>
                </a:solidFill>
                <a:latin typeface="Bricolage Grotesque Semi Bold" pitchFamily="34" charset="0"/>
                <a:ea typeface="Bricolage Grotesque Semi Bold" pitchFamily="34" charset="-122"/>
                <a:cs typeface="Bricolage Grotesque Semi Bold" pitchFamily="34" charset="-120"/>
              </a:rPr>
              <a:t>What This Project Is About</a:t>
            </a:r>
            <a:endParaRPr lang="en-US" sz="2400" dirty="0"/>
          </a:p>
        </p:txBody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34132" y="1398240"/>
            <a:ext cx="5273278" cy="3163937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6014740" y="1299716"/>
            <a:ext cx="1550566" cy="1938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500"/>
              </a:lnSpc>
              <a:buNone/>
            </a:pPr>
            <a:r>
              <a:rPr lang="en-US" sz="1200" dirty="0">
                <a:solidFill>
                  <a:srgbClr val="2C2926"/>
                </a:solidFill>
                <a:latin typeface="Bricolage Grotesque Semi Bold" pitchFamily="34" charset="0"/>
                <a:ea typeface="Bricolage Grotesque Semi Bold" pitchFamily="34" charset="-122"/>
                <a:cs typeface="Bricolage Grotesque Semi Bold" pitchFamily="34" charset="-120"/>
              </a:rPr>
              <a:t>Overview :</a:t>
            </a:r>
            <a:endParaRPr lang="en-US" sz="1200" dirty="0"/>
          </a:p>
        </p:txBody>
      </p:sp>
      <p:sp>
        <p:nvSpPr>
          <p:cNvPr id="7" name="Text 4"/>
          <p:cNvSpPr/>
          <p:nvPr/>
        </p:nvSpPr>
        <p:spPr>
          <a:xfrm>
            <a:off x="6014740" y="1602060"/>
            <a:ext cx="2699817" cy="111621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lnSpc>
                <a:spcPts val="1450"/>
              </a:lnSpc>
              <a:buSzPct val="100000"/>
              <a:buChar char="•"/>
            </a:pPr>
            <a:r>
              <a:rPr lang="en-US" sz="950" dirty="0">
                <a:solidFill>
                  <a:srgbClr val="2C292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This project analyzes </a:t>
            </a:r>
            <a:pPr algn="l" indent="0" marL="0">
              <a:lnSpc>
                <a:spcPts val="1450"/>
              </a:lnSpc>
              <a:buNone/>
            </a:pPr>
            <a:r>
              <a:rPr lang="en-US" sz="950" b="1" dirty="0">
                <a:solidFill>
                  <a:srgbClr val="2C292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customer bike purchasing behavior</a:t>
            </a:r>
            <a:pPr algn="l" indent="0" marL="0">
              <a:lnSpc>
                <a:spcPts val="1450"/>
              </a:lnSpc>
              <a:buNone/>
            </a:pPr>
            <a:r>
              <a:rPr lang="en-US" sz="950" dirty="0">
                <a:solidFill>
                  <a:srgbClr val="2C292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using Excel. The dataset captures demographics and lifestyle variables — age, gender, income, education, occupation, region, and commute distance.</a:t>
            </a:r>
            <a:endParaRPr lang="en-US" sz="950" dirty="0"/>
          </a:p>
        </p:txBody>
      </p:sp>
      <p:sp>
        <p:nvSpPr>
          <p:cNvPr id="8" name="Text 5"/>
          <p:cNvSpPr/>
          <p:nvPr/>
        </p:nvSpPr>
        <p:spPr>
          <a:xfrm>
            <a:off x="6014740" y="2826767"/>
            <a:ext cx="1550566" cy="1938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500"/>
              </a:lnSpc>
              <a:buNone/>
            </a:pPr>
            <a:r>
              <a:rPr lang="en-US" sz="1200" dirty="0">
                <a:solidFill>
                  <a:srgbClr val="2C2926"/>
                </a:solidFill>
                <a:latin typeface="Bricolage Grotesque Semi Bold" pitchFamily="34" charset="0"/>
                <a:ea typeface="Bricolage Grotesque Semi Bold" pitchFamily="34" charset="-122"/>
                <a:cs typeface="Bricolage Grotesque Semi Bold" pitchFamily="34" charset="-120"/>
              </a:rPr>
              <a:t>Objectives :</a:t>
            </a:r>
            <a:endParaRPr lang="en-US" sz="1200" dirty="0"/>
          </a:p>
        </p:txBody>
      </p:sp>
      <p:sp>
        <p:nvSpPr>
          <p:cNvPr id="9" name="Text 6"/>
          <p:cNvSpPr/>
          <p:nvPr/>
        </p:nvSpPr>
        <p:spPr>
          <a:xfrm>
            <a:off x="6014740" y="3129111"/>
            <a:ext cx="2699817" cy="160213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lnSpc>
                <a:spcPts val="1450"/>
              </a:lnSpc>
              <a:buSzPct val="100000"/>
              <a:buChar char="•"/>
            </a:pPr>
            <a:r>
              <a:rPr lang="en-US" sz="950" dirty="0">
                <a:solidFill>
                  <a:srgbClr val="2C292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Analyze customer buying behavior and identify key drivers</a:t>
            </a:r>
            <a:endParaRPr lang="en-US" sz="950" dirty="0"/>
          </a:p>
          <a:p>
            <a:pPr algn="l" marL="342900" indent="-342900">
              <a:lnSpc>
                <a:spcPts val="1450"/>
              </a:lnSpc>
              <a:buSzPct val="100000"/>
              <a:buChar char="•"/>
            </a:pPr>
            <a:r>
              <a:rPr lang="en-US" sz="950" dirty="0">
                <a:solidFill>
                  <a:srgbClr val="2C292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Build interactive dashboards with slicers and Pivot Charts</a:t>
            </a:r>
            <a:endParaRPr lang="en-US" sz="950" dirty="0"/>
          </a:p>
          <a:p>
            <a:pPr algn="l" marL="342900" indent="-342900">
              <a:lnSpc>
                <a:spcPts val="1450"/>
              </a:lnSpc>
              <a:buSzPct val="100000"/>
              <a:buChar char="•"/>
            </a:pPr>
            <a:r>
              <a:rPr lang="en-US" sz="950" dirty="0">
                <a:solidFill>
                  <a:srgbClr val="2C292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Use Pivot Tables to uncover purchase trends</a:t>
            </a:r>
            <a:endParaRPr lang="en-US" sz="950" dirty="0"/>
          </a:p>
          <a:p>
            <a:pPr algn="l" marL="342900" indent="-342900">
              <a:lnSpc>
                <a:spcPts val="1450"/>
              </a:lnSpc>
              <a:buSzPct val="100000"/>
              <a:buChar char="•"/>
            </a:pPr>
            <a:r>
              <a:rPr lang="en-US" sz="950" dirty="0">
                <a:solidFill>
                  <a:srgbClr val="2C292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Generate actionable business insights from raw data</a:t>
            </a:r>
            <a:endParaRPr lang="en-US" sz="9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50912" y="347142"/>
            <a:ext cx="986879" cy="192658"/>
          </a:xfrm>
          <a:prstGeom prst="roundRect">
            <a:avLst>
              <a:gd name="adj" fmla="val 19316"/>
            </a:avLst>
          </a:prstGeom>
          <a:solidFill>
            <a:srgbClr val="F8ECD3"/>
          </a:solidFill>
          <a:ln/>
        </p:spPr>
      </p:sp>
      <p:sp>
        <p:nvSpPr>
          <p:cNvPr id="3" name="Text 1"/>
          <p:cNvSpPr/>
          <p:nvPr/>
        </p:nvSpPr>
        <p:spPr>
          <a:xfrm>
            <a:off x="817364" y="380330"/>
            <a:ext cx="853976" cy="12628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950"/>
              </a:lnSpc>
              <a:buNone/>
            </a:pPr>
            <a:r>
              <a:rPr lang="en-US" sz="650" dirty="0">
                <a:solidFill>
                  <a:srgbClr val="2C292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DATA PREPARATION</a:t>
            </a:r>
            <a:endParaRPr lang="en-US" sz="650" dirty="0"/>
          </a:p>
        </p:txBody>
      </p:sp>
      <p:sp>
        <p:nvSpPr>
          <p:cNvPr id="4" name="Text 2"/>
          <p:cNvSpPr/>
          <p:nvPr/>
        </p:nvSpPr>
        <p:spPr>
          <a:xfrm>
            <a:off x="750912" y="574402"/>
            <a:ext cx="3791396" cy="3461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700"/>
              </a:lnSpc>
              <a:buNone/>
            </a:pPr>
            <a:r>
              <a:rPr lang="en-US" sz="2150" dirty="0">
                <a:solidFill>
                  <a:srgbClr val="2C2926"/>
                </a:solidFill>
                <a:latin typeface="Bricolage Grotesque Semi Bold" pitchFamily="34" charset="0"/>
                <a:ea typeface="Bricolage Grotesque Semi Bold" pitchFamily="34" charset="-122"/>
                <a:cs typeface="Bricolage Grotesque Semi Bold" pitchFamily="34" charset="-120"/>
              </a:rPr>
              <a:t>Dataset &amp; Preparation Steps</a:t>
            </a:r>
            <a:endParaRPr lang="en-US" sz="2150" dirty="0"/>
          </a:p>
        </p:txBody>
      </p:sp>
      <p:sp>
        <p:nvSpPr>
          <p:cNvPr id="5" name="Text 3"/>
          <p:cNvSpPr/>
          <p:nvPr/>
        </p:nvSpPr>
        <p:spPr>
          <a:xfrm>
            <a:off x="750912" y="1136749"/>
            <a:ext cx="1384399" cy="17301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350"/>
              </a:lnSpc>
              <a:buNone/>
            </a:pPr>
            <a:r>
              <a:rPr lang="en-US" sz="1050" dirty="0">
                <a:solidFill>
                  <a:srgbClr val="2C2926"/>
                </a:solidFill>
                <a:latin typeface="Bricolage Grotesque Semi Bold" pitchFamily="34" charset="0"/>
                <a:ea typeface="Bricolage Grotesque Semi Bold" pitchFamily="34" charset="-122"/>
                <a:cs typeface="Bricolage Grotesque Semi Bold" pitchFamily="34" charset="-120"/>
              </a:rPr>
              <a:t>Dataset Variables</a:t>
            </a:r>
            <a:endParaRPr lang="en-US" sz="1050" dirty="0"/>
          </a:p>
        </p:txBody>
      </p:sp>
      <p:sp>
        <p:nvSpPr>
          <p:cNvPr id="6" name="Shape 4"/>
          <p:cNvSpPr/>
          <p:nvPr/>
        </p:nvSpPr>
        <p:spPr>
          <a:xfrm>
            <a:off x="750912" y="1407096"/>
            <a:ext cx="1799704" cy="825029"/>
          </a:xfrm>
          <a:prstGeom prst="roundRect">
            <a:avLst>
              <a:gd name="adj" fmla="val 5638"/>
            </a:avLst>
          </a:prstGeom>
          <a:solidFill>
            <a:srgbClr val="FFFFFF">
              <a:alpha val="95000"/>
            </a:srgbClr>
          </a:solidFill>
          <a:ln w="14288">
            <a:solidFill>
              <a:srgbClr val="F8ECD3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875928" y="1532111"/>
            <a:ext cx="1384399" cy="17301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350"/>
              </a:lnSpc>
              <a:buNone/>
            </a:pPr>
            <a:r>
              <a:rPr lang="en-US" sz="1050" dirty="0">
                <a:solidFill>
                  <a:srgbClr val="2C2926"/>
                </a:solidFill>
                <a:latin typeface="Bricolage Grotesque Semi Bold" pitchFamily="34" charset="0"/>
                <a:ea typeface="Bricolage Grotesque Semi Bold" pitchFamily="34" charset="-122"/>
                <a:cs typeface="Bricolage Grotesque Semi Bold" pitchFamily="34" charset="-120"/>
              </a:rPr>
              <a:t>Demographics</a:t>
            </a:r>
            <a:endParaRPr lang="en-US" sz="1050" dirty="0"/>
          </a:p>
        </p:txBody>
      </p:sp>
      <p:sp>
        <p:nvSpPr>
          <p:cNvPr id="8" name="Text 6"/>
          <p:cNvSpPr/>
          <p:nvPr/>
        </p:nvSpPr>
        <p:spPr>
          <a:xfrm>
            <a:off x="875928" y="1791593"/>
            <a:ext cx="1549673" cy="3155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00"/>
              </a:lnSpc>
              <a:buNone/>
            </a:pPr>
            <a:r>
              <a:rPr lang="en-US" sz="850" dirty="0">
                <a:solidFill>
                  <a:srgbClr val="2C292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Age, Gender, Marital Status, Education, Region</a:t>
            </a:r>
            <a:endParaRPr lang="en-US" sz="850" dirty="0"/>
          </a:p>
        </p:txBody>
      </p:sp>
      <p:sp>
        <p:nvSpPr>
          <p:cNvPr id="9" name="Shape 7"/>
          <p:cNvSpPr/>
          <p:nvPr/>
        </p:nvSpPr>
        <p:spPr>
          <a:xfrm>
            <a:off x="2637086" y="1407096"/>
            <a:ext cx="1799779" cy="825029"/>
          </a:xfrm>
          <a:prstGeom prst="roundRect">
            <a:avLst>
              <a:gd name="adj" fmla="val 5638"/>
            </a:avLst>
          </a:prstGeom>
          <a:solidFill>
            <a:srgbClr val="FFFFFF">
              <a:alpha val="95000"/>
            </a:srgbClr>
          </a:solidFill>
          <a:ln w="14288">
            <a:solidFill>
              <a:srgbClr val="F8ECD3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2762101" y="1532111"/>
            <a:ext cx="1384399" cy="17301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350"/>
              </a:lnSpc>
              <a:buNone/>
            </a:pPr>
            <a:r>
              <a:rPr lang="en-US" sz="1050" dirty="0">
                <a:solidFill>
                  <a:srgbClr val="2C2926"/>
                </a:solidFill>
                <a:latin typeface="Bricolage Grotesque Semi Bold" pitchFamily="34" charset="0"/>
                <a:ea typeface="Bricolage Grotesque Semi Bold" pitchFamily="34" charset="-122"/>
                <a:cs typeface="Bricolage Grotesque Semi Bold" pitchFamily="34" charset="-120"/>
              </a:rPr>
              <a:t>Financial</a:t>
            </a:r>
            <a:endParaRPr lang="en-US" sz="1050" dirty="0"/>
          </a:p>
        </p:txBody>
      </p:sp>
      <p:sp>
        <p:nvSpPr>
          <p:cNvPr id="11" name="Text 9"/>
          <p:cNvSpPr/>
          <p:nvPr/>
        </p:nvSpPr>
        <p:spPr>
          <a:xfrm>
            <a:off x="2762101" y="1791593"/>
            <a:ext cx="1549747" cy="3155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00"/>
              </a:lnSpc>
              <a:buNone/>
            </a:pPr>
            <a:r>
              <a:rPr lang="en-US" sz="850" dirty="0">
                <a:solidFill>
                  <a:srgbClr val="2C292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Income, Home Ownership, Cars Owned</a:t>
            </a:r>
            <a:endParaRPr lang="en-US" sz="850" dirty="0"/>
          </a:p>
        </p:txBody>
      </p:sp>
      <p:sp>
        <p:nvSpPr>
          <p:cNvPr id="12" name="Shape 10"/>
          <p:cNvSpPr/>
          <p:nvPr/>
        </p:nvSpPr>
        <p:spPr>
          <a:xfrm>
            <a:off x="750912" y="2318593"/>
            <a:ext cx="3685952" cy="667271"/>
          </a:xfrm>
          <a:prstGeom prst="roundRect">
            <a:avLst>
              <a:gd name="adj" fmla="val 6971"/>
            </a:avLst>
          </a:prstGeom>
          <a:solidFill>
            <a:srgbClr val="FFFFFF">
              <a:alpha val="95000"/>
            </a:srgbClr>
          </a:solidFill>
          <a:ln w="14288">
            <a:solidFill>
              <a:srgbClr val="F8ECD3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875928" y="2443609"/>
            <a:ext cx="1384399" cy="17301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350"/>
              </a:lnSpc>
              <a:buNone/>
            </a:pPr>
            <a:r>
              <a:rPr lang="en-US" sz="1050" dirty="0">
                <a:solidFill>
                  <a:srgbClr val="2C2926"/>
                </a:solidFill>
                <a:latin typeface="Bricolage Grotesque Semi Bold" pitchFamily="34" charset="0"/>
                <a:ea typeface="Bricolage Grotesque Semi Bold" pitchFamily="34" charset="-122"/>
                <a:cs typeface="Bricolage Grotesque Semi Bold" pitchFamily="34" charset="-120"/>
              </a:rPr>
              <a:t>Behavioral</a:t>
            </a:r>
            <a:endParaRPr lang="en-US" sz="1050" dirty="0"/>
          </a:p>
        </p:txBody>
      </p:sp>
      <p:sp>
        <p:nvSpPr>
          <p:cNvPr id="14" name="Text 12"/>
          <p:cNvSpPr/>
          <p:nvPr/>
        </p:nvSpPr>
        <p:spPr>
          <a:xfrm>
            <a:off x="875928" y="2703091"/>
            <a:ext cx="3435921" cy="15775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200"/>
              </a:lnSpc>
              <a:buNone/>
            </a:pPr>
            <a:r>
              <a:rPr lang="en-US" sz="850" dirty="0">
                <a:solidFill>
                  <a:srgbClr val="2C292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Occupation, Commute Distance, Purchased Bike</a:t>
            </a:r>
            <a:endParaRPr lang="en-US" sz="850" dirty="0"/>
          </a:p>
        </p:txBody>
      </p:sp>
      <p:sp>
        <p:nvSpPr>
          <p:cNvPr id="15" name="Text 13"/>
          <p:cNvSpPr/>
          <p:nvPr/>
        </p:nvSpPr>
        <p:spPr>
          <a:xfrm>
            <a:off x="4711750" y="1136749"/>
            <a:ext cx="1384399" cy="17301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350"/>
              </a:lnSpc>
              <a:buNone/>
            </a:pPr>
            <a:r>
              <a:rPr lang="en-US" sz="1050" dirty="0">
                <a:solidFill>
                  <a:srgbClr val="2C2926"/>
                </a:solidFill>
                <a:latin typeface="Bricolage Grotesque Semi Bold" pitchFamily="34" charset="0"/>
                <a:ea typeface="Bricolage Grotesque Semi Bold" pitchFamily="34" charset="-122"/>
                <a:cs typeface="Bricolage Grotesque Semi Bold" pitchFamily="34" charset="-120"/>
              </a:rPr>
              <a:t>Preparation Steps</a:t>
            </a:r>
            <a:endParaRPr lang="en-US" sz="1050" dirty="0"/>
          </a:p>
        </p:txBody>
      </p:sp>
      <p:sp>
        <p:nvSpPr>
          <p:cNvPr id="16" name="Text 14"/>
          <p:cNvSpPr/>
          <p:nvPr/>
        </p:nvSpPr>
        <p:spPr>
          <a:xfrm>
            <a:off x="4711750" y="1407096"/>
            <a:ext cx="221456" cy="13841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850" dirty="0">
                <a:solidFill>
                  <a:srgbClr val="2C2926"/>
                </a:solidFill>
                <a:latin typeface="Bricolage Grotesque Light" pitchFamily="34" charset="0"/>
                <a:ea typeface="Bricolage Grotesque Light" pitchFamily="34" charset="-122"/>
                <a:cs typeface="Bricolage Grotesque Light" pitchFamily="34" charset="-120"/>
              </a:rPr>
              <a:t>01</a:t>
            </a:r>
            <a:endParaRPr lang="en-US" sz="850" dirty="0"/>
          </a:p>
        </p:txBody>
      </p:sp>
      <p:pic>
        <p:nvPicPr>
          <p:cNvPr id="1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711750" y="1581001"/>
            <a:ext cx="3685952" cy="14288"/>
          </a:xfrm>
          <a:prstGeom prst="rect">
            <a:avLst/>
          </a:prstGeom>
        </p:spPr>
      </p:pic>
      <p:sp>
        <p:nvSpPr>
          <p:cNvPr id="18" name="Text 15"/>
          <p:cNvSpPr/>
          <p:nvPr/>
        </p:nvSpPr>
        <p:spPr>
          <a:xfrm>
            <a:off x="4711750" y="1664940"/>
            <a:ext cx="1384399" cy="17301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350"/>
              </a:lnSpc>
              <a:buNone/>
            </a:pPr>
            <a:r>
              <a:rPr lang="en-US" sz="1050" dirty="0">
                <a:solidFill>
                  <a:srgbClr val="2C2926"/>
                </a:solidFill>
                <a:latin typeface="Bricolage Grotesque Semi Bold" pitchFamily="34" charset="0"/>
                <a:ea typeface="Bricolage Grotesque Semi Bold" pitchFamily="34" charset="-122"/>
                <a:cs typeface="Bricolage Grotesque Semi Bold" pitchFamily="34" charset="-120"/>
              </a:rPr>
              <a:t>Data Cleaning</a:t>
            </a:r>
            <a:endParaRPr lang="en-US" sz="1050" dirty="0"/>
          </a:p>
        </p:txBody>
      </p:sp>
      <p:sp>
        <p:nvSpPr>
          <p:cNvPr id="19" name="Text 16"/>
          <p:cNvSpPr/>
          <p:nvPr/>
        </p:nvSpPr>
        <p:spPr>
          <a:xfrm>
            <a:off x="4711750" y="1924422"/>
            <a:ext cx="3685952" cy="15775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200"/>
              </a:lnSpc>
              <a:buNone/>
            </a:pPr>
            <a:r>
              <a:rPr lang="en-US" sz="850" dirty="0">
                <a:solidFill>
                  <a:srgbClr val="2C292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Checked for missing values and removed duplicates</a:t>
            </a:r>
            <a:endParaRPr lang="en-US" sz="850" dirty="0"/>
          </a:p>
        </p:txBody>
      </p:sp>
      <p:sp>
        <p:nvSpPr>
          <p:cNvPr id="20" name="Text 17"/>
          <p:cNvSpPr/>
          <p:nvPr/>
        </p:nvSpPr>
        <p:spPr>
          <a:xfrm>
            <a:off x="4711750" y="2251695"/>
            <a:ext cx="221456" cy="13841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850" dirty="0">
                <a:solidFill>
                  <a:srgbClr val="2C2926"/>
                </a:solidFill>
                <a:latin typeface="Bricolage Grotesque Light" pitchFamily="34" charset="0"/>
                <a:ea typeface="Bricolage Grotesque Light" pitchFamily="34" charset="-122"/>
                <a:cs typeface="Bricolage Grotesque Light" pitchFamily="34" charset="-120"/>
              </a:rPr>
              <a:t>02</a:t>
            </a:r>
            <a:endParaRPr lang="en-US" sz="850" dirty="0"/>
          </a:p>
        </p:txBody>
      </p:sp>
      <p:pic>
        <p:nvPicPr>
          <p:cNvPr id="2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11750" y="2414513"/>
            <a:ext cx="3685952" cy="14288"/>
          </a:xfrm>
          <a:prstGeom prst="rect">
            <a:avLst/>
          </a:prstGeom>
        </p:spPr>
      </p:pic>
      <p:sp>
        <p:nvSpPr>
          <p:cNvPr id="22" name="Text 18"/>
          <p:cNvSpPr/>
          <p:nvPr/>
        </p:nvSpPr>
        <p:spPr>
          <a:xfrm>
            <a:off x="4711750" y="2509540"/>
            <a:ext cx="1384399" cy="17301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350"/>
              </a:lnSpc>
              <a:buNone/>
            </a:pPr>
            <a:r>
              <a:rPr lang="en-US" sz="1050" dirty="0">
                <a:solidFill>
                  <a:srgbClr val="2C2926"/>
                </a:solidFill>
                <a:latin typeface="Bricolage Grotesque Semi Bold" pitchFamily="34" charset="0"/>
                <a:ea typeface="Bricolage Grotesque Semi Bold" pitchFamily="34" charset="-122"/>
                <a:cs typeface="Bricolage Grotesque Semi Bold" pitchFamily="34" charset="-120"/>
              </a:rPr>
              <a:t>Formatting</a:t>
            </a:r>
            <a:endParaRPr lang="en-US" sz="1050" dirty="0"/>
          </a:p>
        </p:txBody>
      </p:sp>
      <p:sp>
        <p:nvSpPr>
          <p:cNvPr id="23" name="Text 19"/>
          <p:cNvSpPr/>
          <p:nvPr/>
        </p:nvSpPr>
        <p:spPr>
          <a:xfrm>
            <a:off x="4711750" y="2769022"/>
            <a:ext cx="3685952" cy="15775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200"/>
              </a:lnSpc>
              <a:buNone/>
            </a:pPr>
            <a:r>
              <a:rPr lang="en-US" sz="850" dirty="0">
                <a:solidFill>
                  <a:srgbClr val="2C292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Formatted income and numerical columns for consistency</a:t>
            </a:r>
            <a:endParaRPr lang="en-US" sz="850" dirty="0"/>
          </a:p>
        </p:txBody>
      </p:sp>
      <p:sp>
        <p:nvSpPr>
          <p:cNvPr id="24" name="Text 20"/>
          <p:cNvSpPr/>
          <p:nvPr/>
        </p:nvSpPr>
        <p:spPr>
          <a:xfrm>
            <a:off x="4711750" y="3096295"/>
            <a:ext cx="221456" cy="13841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850" dirty="0">
                <a:solidFill>
                  <a:srgbClr val="2C2926"/>
                </a:solidFill>
                <a:latin typeface="Bricolage Grotesque Light" pitchFamily="34" charset="0"/>
                <a:ea typeface="Bricolage Grotesque Light" pitchFamily="34" charset="-122"/>
                <a:cs typeface="Bricolage Grotesque Light" pitchFamily="34" charset="-120"/>
              </a:rPr>
              <a:t>03</a:t>
            </a:r>
            <a:endParaRPr lang="en-US" sz="850" dirty="0"/>
          </a:p>
        </p:txBody>
      </p:sp>
      <p:pic>
        <p:nvPicPr>
          <p:cNvPr id="25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11750" y="3248099"/>
            <a:ext cx="3685952" cy="14288"/>
          </a:xfrm>
          <a:prstGeom prst="rect">
            <a:avLst/>
          </a:prstGeom>
        </p:spPr>
      </p:pic>
      <p:sp>
        <p:nvSpPr>
          <p:cNvPr id="26" name="Text 21"/>
          <p:cNvSpPr/>
          <p:nvPr/>
        </p:nvSpPr>
        <p:spPr>
          <a:xfrm>
            <a:off x="4711750" y="3354139"/>
            <a:ext cx="1384399" cy="17301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350"/>
              </a:lnSpc>
              <a:buNone/>
            </a:pPr>
            <a:r>
              <a:rPr lang="en-US" sz="1050" dirty="0">
                <a:solidFill>
                  <a:srgbClr val="2C2926"/>
                </a:solidFill>
                <a:latin typeface="Bricolage Grotesque Semi Bold" pitchFamily="34" charset="0"/>
                <a:ea typeface="Bricolage Grotesque Semi Bold" pitchFamily="34" charset="-122"/>
                <a:cs typeface="Bricolage Grotesque Semi Bold" pitchFamily="34" charset="-120"/>
              </a:rPr>
              <a:t>Age Brackets</a:t>
            </a:r>
            <a:endParaRPr lang="en-US" sz="1050" dirty="0"/>
          </a:p>
        </p:txBody>
      </p:sp>
      <p:sp>
        <p:nvSpPr>
          <p:cNvPr id="27" name="Text 22"/>
          <p:cNvSpPr/>
          <p:nvPr/>
        </p:nvSpPr>
        <p:spPr>
          <a:xfrm>
            <a:off x="4711750" y="3613621"/>
            <a:ext cx="3685952" cy="15775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200"/>
              </a:lnSpc>
              <a:buNone/>
            </a:pPr>
            <a:r>
              <a:rPr lang="en-US" sz="850" dirty="0">
                <a:solidFill>
                  <a:srgbClr val="2C292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Created age categories using Excel IF formula</a:t>
            </a:r>
            <a:endParaRPr lang="en-US" sz="850" dirty="0"/>
          </a:p>
        </p:txBody>
      </p:sp>
      <p:sp>
        <p:nvSpPr>
          <p:cNvPr id="28" name="Text 23"/>
          <p:cNvSpPr/>
          <p:nvPr/>
        </p:nvSpPr>
        <p:spPr>
          <a:xfrm>
            <a:off x="4711750" y="3940894"/>
            <a:ext cx="221456" cy="13841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850" dirty="0">
                <a:solidFill>
                  <a:srgbClr val="2C2926"/>
                </a:solidFill>
                <a:latin typeface="Bricolage Grotesque Light" pitchFamily="34" charset="0"/>
                <a:ea typeface="Bricolage Grotesque Light" pitchFamily="34" charset="-122"/>
                <a:cs typeface="Bricolage Grotesque Light" pitchFamily="34" charset="-120"/>
              </a:rPr>
              <a:t>04</a:t>
            </a:r>
            <a:endParaRPr lang="en-US" sz="850" dirty="0"/>
          </a:p>
        </p:txBody>
      </p:sp>
      <p:pic>
        <p:nvPicPr>
          <p:cNvPr id="29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711750" y="4081611"/>
            <a:ext cx="3685952" cy="14288"/>
          </a:xfrm>
          <a:prstGeom prst="rect">
            <a:avLst/>
          </a:prstGeom>
        </p:spPr>
      </p:pic>
      <p:sp>
        <p:nvSpPr>
          <p:cNvPr id="30" name="Text 24"/>
          <p:cNvSpPr/>
          <p:nvPr/>
        </p:nvSpPr>
        <p:spPr>
          <a:xfrm>
            <a:off x="4711750" y="4198739"/>
            <a:ext cx="1384399" cy="17301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350"/>
              </a:lnSpc>
              <a:buNone/>
            </a:pPr>
            <a:r>
              <a:rPr lang="en-US" sz="1050" dirty="0">
                <a:solidFill>
                  <a:srgbClr val="2C2926"/>
                </a:solidFill>
                <a:latin typeface="Bricolage Grotesque Semi Bold" pitchFamily="34" charset="0"/>
                <a:ea typeface="Bricolage Grotesque Semi Bold" pitchFamily="34" charset="-122"/>
                <a:cs typeface="Bricolage Grotesque Semi Bold" pitchFamily="34" charset="-120"/>
              </a:rPr>
              <a:t>Structuring</a:t>
            </a:r>
            <a:endParaRPr lang="en-US" sz="1050" dirty="0"/>
          </a:p>
        </p:txBody>
      </p:sp>
      <p:sp>
        <p:nvSpPr>
          <p:cNvPr id="31" name="Text 25"/>
          <p:cNvSpPr/>
          <p:nvPr/>
        </p:nvSpPr>
        <p:spPr>
          <a:xfrm>
            <a:off x="4711750" y="4458221"/>
            <a:ext cx="3685952" cy="15775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200"/>
              </a:lnSpc>
              <a:buNone/>
            </a:pPr>
            <a:r>
              <a:rPr lang="en-US" sz="850" dirty="0">
                <a:solidFill>
                  <a:srgbClr val="2C292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Converted raw data into a table-ready format for Pivot analysis</a:t>
            </a:r>
            <a:endParaRPr lang="en-US" sz="8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96119" y="911944"/>
            <a:ext cx="1312292" cy="266402"/>
          </a:xfrm>
          <a:prstGeom prst="roundRect">
            <a:avLst>
              <a:gd name="adj" fmla="val 17880"/>
            </a:avLst>
          </a:prstGeom>
          <a:solidFill>
            <a:srgbClr val="F8ECD3"/>
          </a:solidFill>
          <a:ln/>
        </p:spPr>
      </p:sp>
      <p:sp>
        <p:nvSpPr>
          <p:cNvPr id="3" name="Text 1"/>
          <p:cNvSpPr/>
          <p:nvPr/>
        </p:nvSpPr>
        <p:spPr>
          <a:xfrm>
            <a:off x="581174" y="954435"/>
            <a:ext cx="1142181" cy="18142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400"/>
              </a:lnSpc>
              <a:buNone/>
            </a:pPr>
            <a:r>
              <a:rPr lang="en-US" sz="850" dirty="0">
                <a:solidFill>
                  <a:srgbClr val="2C292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FORMULA ANALYSIS</a:t>
            </a:r>
            <a:endParaRPr lang="en-US" sz="850" dirty="0"/>
          </a:p>
        </p:txBody>
      </p:sp>
      <p:sp>
        <p:nvSpPr>
          <p:cNvPr id="4" name="Text 2"/>
          <p:cNvSpPr/>
          <p:nvPr/>
        </p:nvSpPr>
        <p:spPr>
          <a:xfrm>
            <a:off x="496119" y="1235050"/>
            <a:ext cx="3563838" cy="44298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3450"/>
              </a:lnSpc>
              <a:buNone/>
            </a:pPr>
            <a:r>
              <a:rPr lang="en-US" sz="2750" dirty="0">
                <a:solidFill>
                  <a:srgbClr val="2C2926"/>
                </a:solidFill>
                <a:latin typeface="Bricolage Grotesque Semi Bold" pitchFamily="34" charset="0"/>
                <a:ea typeface="Bricolage Grotesque Semi Bold" pitchFamily="34" charset="-122"/>
                <a:cs typeface="Bricolage Grotesque Semi Bold" pitchFamily="34" charset="-120"/>
              </a:rPr>
              <a:t>Age Bracket Formula</a:t>
            </a:r>
            <a:endParaRPr lang="en-US" sz="2750" dirty="0"/>
          </a:p>
        </p:txBody>
      </p:sp>
      <p:sp>
        <p:nvSpPr>
          <p:cNvPr id="5" name="Text 3"/>
          <p:cNvSpPr/>
          <p:nvPr/>
        </p:nvSpPr>
        <p:spPr>
          <a:xfrm>
            <a:off x="496119" y="1890638"/>
            <a:ext cx="8151763" cy="4536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750"/>
              </a:lnSpc>
              <a:buNone/>
            </a:pPr>
            <a:r>
              <a:rPr lang="en-US" sz="1100" dirty="0">
                <a:solidFill>
                  <a:srgbClr val="2C292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 nested </a:t>
            </a:r>
            <a:pPr algn="l" indent="0" marL="0">
              <a:lnSpc>
                <a:spcPts val="1750"/>
              </a:lnSpc>
              <a:buNone/>
            </a:pPr>
            <a:r>
              <a:rPr lang="en-US" sz="1100" b="1" dirty="0">
                <a:solidFill>
                  <a:srgbClr val="2C292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IF formula</a:t>
            </a:r>
            <a:pPr algn="l" indent="0" marL="0">
              <a:lnSpc>
                <a:spcPts val="1750"/>
              </a:lnSpc>
              <a:buNone/>
            </a:pPr>
            <a:r>
              <a:rPr lang="en-US" sz="1100" dirty="0">
                <a:solidFill>
                  <a:srgbClr val="2C292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was used to segment customers into meaningful age groups, improving the depth and readability of Pivot Table analysis.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496119" y="2503736"/>
            <a:ext cx="8151763" cy="510332"/>
          </a:xfrm>
          <a:prstGeom prst="roundRect">
            <a:avLst>
              <a:gd name="adj" fmla="val 11667"/>
            </a:avLst>
          </a:prstGeom>
          <a:solidFill>
            <a:srgbClr val="F2F2F2"/>
          </a:solidFill>
          <a:ln/>
        </p:spPr>
      </p:sp>
      <p:sp>
        <p:nvSpPr>
          <p:cNvPr id="7" name="Shape 5"/>
          <p:cNvSpPr/>
          <p:nvPr/>
        </p:nvSpPr>
        <p:spPr>
          <a:xfrm>
            <a:off x="489049" y="2503736"/>
            <a:ext cx="8165902" cy="510332"/>
          </a:xfrm>
          <a:prstGeom prst="roundRect">
            <a:avLst>
              <a:gd name="adj" fmla="val 4167"/>
            </a:avLst>
          </a:prstGeom>
          <a:solidFill>
            <a:srgbClr val="F2F2F2"/>
          </a:solidFill>
          <a:ln/>
        </p:spPr>
      </p:sp>
      <p:sp>
        <p:nvSpPr>
          <p:cNvPr id="8" name="Text 6"/>
          <p:cNvSpPr/>
          <p:nvPr/>
        </p:nvSpPr>
        <p:spPr>
          <a:xfrm>
            <a:off x="666229" y="2645494"/>
            <a:ext cx="7811542" cy="2268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750"/>
              </a:lnSpc>
              <a:buNone/>
            </a:pPr>
            <a:r>
              <a:rPr lang="en-US" sz="1100" dirty="0">
                <a:solidFill>
                  <a:srgbClr val="2C292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=IF(L2&gt;54,"Old",IF(L2&gt;=31,"Middle Age",IF(L2&lt;31,"Adolescent","Invalid")))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496119" y="3173537"/>
            <a:ext cx="2622724" cy="1057945"/>
          </a:xfrm>
          <a:prstGeom prst="roundRect">
            <a:avLst>
              <a:gd name="adj" fmla="val 5628"/>
            </a:avLst>
          </a:prstGeom>
          <a:solidFill>
            <a:srgbClr val="FFFFFF"/>
          </a:solidFill>
          <a:ln w="4763">
            <a:solidFill>
              <a:srgbClr val="F8ECD3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42640" y="3320058"/>
            <a:ext cx="1772022" cy="22621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700"/>
              </a:lnSpc>
              <a:buNone/>
            </a:pPr>
            <a:r>
              <a:rPr lang="en-US" sz="1350" dirty="0">
                <a:solidFill>
                  <a:srgbClr val="000000"/>
                </a:solidFill>
                <a:latin typeface="Bricolage Grotesque Semi Bold" pitchFamily="34" charset="0"/>
                <a:ea typeface="Bricolage Grotesque Semi Bold" pitchFamily="34" charset="-122"/>
                <a:cs typeface="Bricolage Grotesque Semi Bold" pitchFamily="34" charset="-120"/>
              </a:rPr>
              <a:t>🧒</a:t>
            </a:r>
            <a:pPr algn="l" indent="0" marL="0">
              <a:lnSpc>
                <a:spcPts val="1700"/>
              </a:lnSpc>
              <a:buNone/>
            </a:pPr>
            <a:r>
              <a:rPr lang="en-US" sz="1350" dirty="0">
                <a:solidFill>
                  <a:srgbClr val="2C2926"/>
                </a:solidFill>
                <a:latin typeface="Bricolage Grotesque Semi Bold" pitchFamily="34" charset="0"/>
                <a:ea typeface="Bricolage Grotesque Semi Bold" pitchFamily="34" charset="-122"/>
                <a:cs typeface="Bricolage Grotesque Semi Bold" pitchFamily="34" charset="-120"/>
              </a:rPr>
              <a:t> Adolescent</a:t>
            </a:r>
            <a:endParaRPr lang="en-US" sz="1350" dirty="0"/>
          </a:p>
        </p:txBody>
      </p:sp>
      <p:sp>
        <p:nvSpPr>
          <p:cNvPr id="11" name="Text 9"/>
          <p:cNvSpPr/>
          <p:nvPr/>
        </p:nvSpPr>
        <p:spPr>
          <a:xfrm>
            <a:off x="642640" y="3631332"/>
            <a:ext cx="2329681" cy="4536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750"/>
              </a:lnSpc>
              <a:buNone/>
            </a:pPr>
            <a:r>
              <a:rPr lang="en-US" sz="1100" dirty="0">
                <a:solidFill>
                  <a:srgbClr val="2C292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Age </a:t>
            </a:r>
            <a:pPr algn="l" indent="0" marL="0">
              <a:lnSpc>
                <a:spcPts val="1750"/>
              </a:lnSpc>
              <a:buNone/>
            </a:pPr>
            <a:r>
              <a:rPr lang="en-US" sz="1100" b="1" dirty="0">
                <a:solidFill>
                  <a:srgbClr val="2C292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below 31</a:t>
            </a:r>
            <a:pPr algn="l" indent="0" marL="0">
              <a:lnSpc>
                <a:spcPts val="1750"/>
              </a:lnSpc>
              <a:buNone/>
            </a:pPr>
            <a:r>
              <a:rPr lang="en-US" sz="1100" dirty="0">
                <a:solidFill>
                  <a:srgbClr val="2C292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— younger, early-career customers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3260601" y="3173537"/>
            <a:ext cx="2622724" cy="1057945"/>
          </a:xfrm>
          <a:prstGeom prst="roundRect">
            <a:avLst>
              <a:gd name="adj" fmla="val 5628"/>
            </a:avLst>
          </a:prstGeom>
          <a:solidFill>
            <a:srgbClr val="FFFFFF"/>
          </a:solidFill>
          <a:ln w="4763">
            <a:solidFill>
              <a:srgbClr val="F8ECD3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407122" y="3320058"/>
            <a:ext cx="1772022" cy="22621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700"/>
              </a:lnSpc>
              <a:buNone/>
            </a:pPr>
            <a:r>
              <a:rPr lang="en-US" sz="1350" dirty="0">
                <a:solidFill>
                  <a:srgbClr val="000000"/>
                </a:solidFill>
                <a:latin typeface="Bricolage Grotesque Semi Bold" pitchFamily="34" charset="0"/>
                <a:ea typeface="Bricolage Grotesque Semi Bold" pitchFamily="34" charset="-122"/>
                <a:cs typeface="Bricolage Grotesque Semi Bold" pitchFamily="34" charset="-120"/>
              </a:rPr>
              <a:t>🧑</a:t>
            </a:r>
            <a:pPr algn="l" indent="0" marL="0">
              <a:lnSpc>
                <a:spcPts val="1700"/>
              </a:lnSpc>
              <a:buNone/>
            </a:pPr>
            <a:r>
              <a:rPr lang="en-US" sz="1350" dirty="0">
                <a:solidFill>
                  <a:srgbClr val="2C2926"/>
                </a:solidFill>
                <a:latin typeface="Bricolage Grotesque Semi Bold" pitchFamily="34" charset="0"/>
                <a:ea typeface="Bricolage Grotesque Semi Bold" pitchFamily="34" charset="-122"/>
                <a:cs typeface="Bricolage Grotesque Semi Bold" pitchFamily="34" charset="-120"/>
              </a:rPr>
              <a:t> Middle Age</a:t>
            </a:r>
            <a:endParaRPr lang="en-US" sz="1350" dirty="0"/>
          </a:p>
        </p:txBody>
      </p:sp>
      <p:sp>
        <p:nvSpPr>
          <p:cNvPr id="14" name="Text 12"/>
          <p:cNvSpPr/>
          <p:nvPr/>
        </p:nvSpPr>
        <p:spPr>
          <a:xfrm>
            <a:off x="3407122" y="3631332"/>
            <a:ext cx="2329681" cy="4536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750"/>
              </a:lnSpc>
              <a:buNone/>
            </a:pPr>
            <a:r>
              <a:rPr lang="en-US" sz="1100" dirty="0">
                <a:solidFill>
                  <a:srgbClr val="2C292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Age </a:t>
            </a:r>
            <a:pPr algn="l" indent="0" marL="0">
              <a:lnSpc>
                <a:spcPts val="1750"/>
              </a:lnSpc>
              <a:buNone/>
            </a:pPr>
            <a:r>
              <a:rPr lang="en-US" sz="1100" b="1" dirty="0">
                <a:solidFill>
                  <a:srgbClr val="2C292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31 to 54</a:t>
            </a:r>
            <a:pPr algn="l" indent="0" marL="0">
              <a:lnSpc>
                <a:spcPts val="1750"/>
              </a:lnSpc>
              <a:buNone/>
            </a:pPr>
            <a:r>
              <a:rPr lang="en-US" sz="1100" dirty="0">
                <a:solidFill>
                  <a:srgbClr val="2C292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— primary target segment for bike purchases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6025083" y="3173537"/>
            <a:ext cx="2622724" cy="1057945"/>
          </a:xfrm>
          <a:prstGeom prst="roundRect">
            <a:avLst>
              <a:gd name="adj" fmla="val 5628"/>
            </a:avLst>
          </a:prstGeom>
          <a:solidFill>
            <a:srgbClr val="FFFFFF"/>
          </a:solidFill>
          <a:ln w="4763">
            <a:solidFill>
              <a:srgbClr val="F8ECD3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171605" y="3320058"/>
            <a:ext cx="1772022" cy="22621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700"/>
              </a:lnSpc>
              <a:buNone/>
            </a:pPr>
            <a:r>
              <a:rPr lang="en-US" sz="1350" dirty="0">
                <a:solidFill>
                  <a:srgbClr val="000000"/>
                </a:solidFill>
                <a:latin typeface="Bricolage Grotesque Semi Bold" pitchFamily="34" charset="0"/>
                <a:ea typeface="Bricolage Grotesque Semi Bold" pitchFamily="34" charset="-122"/>
                <a:cs typeface="Bricolage Grotesque Semi Bold" pitchFamily="34" charset="-120"/>
              </a:rPr>
              <a:t>👴</a:t>
            </a:r>
            <a:pPr algn="l" indent="0" marL="0">
              <a:lnSpc>
                <a:spcPts val="1700"/>
              </a:lnSpc>
              <a:buNone/>
            </a:pPr>
            <a:r>
              <a:rPr lang="en-US" sz="1350" dirty="0">
                <a:solidFill>
                  <a:srgbClr val="2C2926"/>
                </a:solidFill>
                <a:latin typeface="Bricolage Grotesque Semi Bold" pitchFamily="34" charset="0"/>
                <a:ea typeface="Bricolage Grotesque Semi Bold" pitchFamily="34" charset="-122"/>
                <a:cs typeface="Bricolage Grotesque Semi Bold" pitchFamily="34" charset="-120"/>
              </a:rPr>
              <a:t> Old</a:t>
            </a:r>
            <a:endParaRPr lang="en-US" sz="1350" dirty="0"/>
          </a:p>
        </p:txBody>
      </p:sp>
      <p:sp>
        <p:nvSpPr>
          <p:cNvPr id="17" name="Text 15"/>
          <p:cNvSpPr/>
          <p:nvPr/>
        </p:nvSpPr>
        <p:spPr>
          <a:xfrm>
            <a:off x="6171605" y="3631332"/>
            <a:ext cx="2329681" cy="4536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750"/>
              </a:lnSpc>
              <a:buNone/>
            </a:pPr>
            <a:r>
              <a:rPr lang="en-US" sz="1100" dirty="0">
                <a:solidFill>
                  <a:srgbClr val="2C292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Age </a:t>
            </a:r>
            <a:pPr algn="l" indent="0" marL="0">
              <a:lnSpc>
                <a:spcPts val="1750"/>
              </a:lnSpc>
              <a:buNone/>
            </a:pPr>
            <a:r>
              <a:rPr lang="en-US" sz="1100" b="1" dirty="0">
                <a:solidFill>
                  <a:srgbClr val="2C292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above 54</a:t>
            </a:r>
            <a:pPr algn="l" indent="0" marL="0">
              <a:lnSpc>
                <a:spcPts val="1750"/>
              </a:lnSpc>
              <a:buNone/>
            </a:pPr>
            <a:r>
              <a:rPr lang="en-US" sz="1100" dirty="0">
                <a:solidFill>
                  <a:srgbClr val="2C292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— senior customers with distinct buying patterns</a:t>
            </a:r>
            <a:endParaRPr lang="en-US" sz="11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88379" y="393502"/>
            <a:ext cx="1073869" cy="260821"/>
          </a:xfrm>
          <a:prstGeom prst="roundRect">
            <a:avLst>
              <a:gd name="adj" fmla="val 17978"/>
            </a:avLst>
          </a:prstGeom>
          <a:solidFill>
            <a:srgbClr val="F8ECD3"/>
          </a:solidFill>
          <a:ln/>
        </p:spPr>
      </p:sp>
      <p:sp>
        <p:nvSpPr>
          <p:cNvPr id="3" name="Text 1"/>
          <p:cNvSpPr/>
          <p:nvPr/>
        </p:nvSpPr>
        <p:spPr>
          <a:xfrm>
            <a:off x="572095" y="435322"/>
            <a:ext cx="906438" cy="1771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350"/>
              </a:lnSpc>
              <a:buNone/>
            </a:pPr>
            <a:r>
              <a:rPr lang="en-US" sz="850" dirty="0">
                <a:solidFill>
                  <a:srgbClr val="2C292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PIVOT ANALYSIS</a:t>
            </a:r>
            <a:endParaRPr lang="en-US" sz="850" dirty="0"/>
          </a:p>
        </p:txBody>
      </p:sp>
      <p:sp>
        <p:nvSpPr>
          <p:cNvPr id="4" name="Text 2"/>
          <p:cNvSpPr/>
          <p:nvPr/>
        </p:nvSpPr>
        <p:spPr>
          <a:xfrm>
            <a:off x="488379" y="709240"/>
            <a:ext cx="3575447" cy="43606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3400"/>
              </a:lnSpc>
              <a:buNone/>
            </a:pPr>
            <a:r>
              <a:rPr lang="en-US" sz="2700" dirty="0">
                <a:solidFill>
                  <a:srgbClr val="2C2926"/>
                </a:solidFill>
                <a:latin typeface="Bricolage Grotesque Semi Bold" pitchFamily="34" charset="0"/>
                <a:ea typeface="Bricolage Grotesque Semi Bold" pitchFamily="34" charset="-122"/>
                <a:cs typeface="Bricolage Grotesque Semi Bold" pitchFamily="34" charset="-120"/>
              </a:rPr>
              <a:t>Pivot Tables &amp; Charts</a:t>
            </a:r>
            <a:endParaRPr lang="en-US" sz="2700" dirty="0"/>
          </a:p>
        </p:txBody>
      </p:sp>
      <p:sp>
        <p:nvSpPr>
          <p:cNvPr id="5" name="Text 3"/>
          <p:cNvSpPr/>
          <p:nvPr/>
        </p:nvSpPr>
        <p:spPr>
          <a:xfrm>
            <a:off x="488379" y="1488728"/>
            <a:ext cx="1744340" cy="21803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700"/>
              </a:lnSpc>
              <a:buNone/>
            </a:pPr>
            <a:r>
              <a:rPr lang="en-US" sz="1350" dirty="0">
                <a:solidFill>
                  <a:srgbClr val="2C2926"/>
                </a:solidFill>
                <a:latin typeface="Bricolage Grotesque Semi Bold" pitchFamily="34" charset="0"/>
                <a:ea typeface="Bricolage Grotesque Semi Bold" pitchFamily="34" charset="-122"/>
                <a:cs typeface="Bricolage Grotesque Semi Bold" pitchFamily="34" charset="-120"/>
              </a:rPr>
              <a:t>Pivot Tables Created</a:t>
            </a:r>
            <a:endParaRPr lang="en-US" sz="1350" dirty="0"/>
          </a:p>
        </p:txBody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540693" y="1865523"/>
            <a:ext cx="209327" cy="209327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941859" y="1861245"/>
            <a:ext cx="2503884" cy="21803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700"/>
              </a:lnSpc>
              <a:buNone/>
            </a:pPr>
            <a:r>
              <a:rPr lang="en-US" sz="1350" dirty="0">
                <a:solidFill>
                  <a:srgbClr val="2C2926"/>
                </a:solidFill>
                <a:latin typeface="Bricolage Grotesque Semi Bold" pitchFamily="34" charset="0"/>
                <a:ea typeface="Bricolage Grotesque Semi Bold" pitchFamily="34" charset="-122"/>
                <a:cs typeface="Bricolage Grotesque Semi Bold" pitchFamily="34" charset="-120"/>
              </a:rPr>
              <a:t>Average Income per Purchase</a:t>
            </a:r>
            <a:endParaRPr lang="en-US" sz="1350" dirty="0"/>
          </a:p>
        </p:txBody>
      </p:sp>
      <p:pic>
        <p:nvPicPr>
          <p:cNvPr id="8" name="Image 1" descr="preencoded.png">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540693" y="2563230"/>
            <a:ext cx="209327" cy="209327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941859" y="2558951"/>
            <a:ext cx="2886447" cy="21803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700"/>
              </a:lnSpc>
              <a:buNone/>
            </a:pPr>
            <a:r>
              <a:rPr lang="en-US" sz="1350" dirty="0">
                <a:solidFill>
                  <a:srgbClr val="2C2926"/>
                </a:solidFill>
                <a:latin typeface="Bricolage Grotesque Semi Bold" pitchFamily="34" charset="0"/>
                <a:ea typeface="Bricolage Grotesque Semi Bold" pitchFamily="34" charset="-122"/>
                <a:cs typeface="Bricolage Grotesque Semi Bold" pitchFamily="34" charset="-120"/>
              </a:rPr>
              <a:t>Age Bracket Purchase Distribution</a:t>
            </a:r>
            <a:endParaRPr lang="en-US" sz="1350" dirty="0"/>
          </a:p>
        </p:txBody>
      </p:sp>
      <p:pic>
        <p:nvPicPr>
          <p:cNvPr id="10" name="Image 2" descr="preencoded.png">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540693" y="3260936"/>
            <a:ext cx="209327" cy="209327"/>
          </a:xfrm>
          <a:prstGeom prst="rect">
            <a:avLst/>
          </a:prstGeom>
        </p:spPr>
      </p:pic>
      <p:sp>
        <p:nvSpPr>
          <p:cNvPr id="11" name="Text 6"/>
          <p:cNvSpPr/>
          <p:nvPr/>
        </p:nvSpPr>
        <p:spPr>
          <a:xfrm>
            <a:off x="941859" y="3256657"/>
            <a:ext cx="3130153" cy="21803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700"/>
              </a:lnSpc>
              <a:buNone/>
            </a:pPr>
            <a:r>
              <a:rPr lang="en-US" sz="1350" dirty="0">
                <a:solidFill>
                  <a:srgbClr val="2C2926"/>
                </a:solidFill>
                <a:latin typeface="Bricolage Grotesque Semi Bold" pitchFamily="34" charset="0"/>
                <a:ea typeface="Bricolage Grotesque Semi Bold" pitchFamily="34" charset="-122"/>
                <a:cs typeface="Bricolage Grotesque Semi Bold" pitchFamily="34" charset="-120"/>
              </a:rPr>
              <a:t>Commute Distance vs. Purchase Rate</a:t>
            </a:r>
            <a:endParaRPr lang="en-US" sz="1350" dirty="0"/>
          </a:p>
        </p:txBody>
      </p:sp>
      <p:pic>
        <p:nvPicPr>
          <p:cNvPr id="12" name="Image 3" descr="preencoded.png">    </p:cNvPr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540693" y="3958642"/>
            <a:ext cx="209327" cy="209327"/>
          </a:xfrm>
          <a:prstGeom prst="rect">
            <a:avLst/>
          </a:prstGeom>
        </p:spPr>
      </p:pic>
      <p:sp>
        <p:nvSpPr>
          <p:cNvPr id="13" name="Text 7"/>
          <p:cNvSpPr/>
          <p:nvPr/>
        </p:nvSpPr>
        <p:spPr>
          <a:xfrm>
            <a:off x="941859" y="3954363"/>
            <a:ext cx="2739628" cy="21803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700"/>
              </a:lnSpc>
              <a:buNone/>
            </a:pPr>
            <a:r>
              <a:rPr lang="en-US" sz="1350" dirty="0">
                <a:solidFill>
                  <a:srgbClr val="2C2926"/>
                </a:solidFill>
                <a:latin typeface="Bricolage Grotesque Semi Bold" pitchFamily="34" charset="0"/>
                <a:ea typeface="Bricolage Grotesque Semi Bold" pitchFamily="34" charset="-122"/>
                <a:cs typeface="Bricolage Grotesque Semi Bold" pitchFamily="34" charset="-120"/>
              </a:rPr>
              <a:t>Purchase Distribution by Gender</a:t>
            </a:r>
            <a:endParaRPr lang="en-US" sz="1350" dirty="0"/>
          </a:p>
        </p:txBody>
      </p:sp>
      <p:sp>
        <p:nvSpPr>
          <p:cNvPr id="14" name="Text 8"/>
          <p:cNvSpPr/>
          <p:nvPr/>
        </p:nvSpPr>
        <p:spPr>
          <a:xfrm>
            <a:off x="4746947" y="1488728"/>
            <a:ext cx="1744340" cy="21803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700"/>
              </a:lnSpc>
              <a:buNone/>
            </a:pPr>
            <a:r>
              <a:rPr lang="en-US" sz="1350" dirty="0">
                <a:solidFill>
                  <a:srgbClr val="2C2926"/>
                </a:solidFill>
                <a:latin typeface="Bricolage Grotesque Semi Bold" pitchFamily="34" charset="0"/>
                <a:ea typeface="Bricolage Grotesque Semi Bold" pitchFamily="34" charset="-122"/>
                <a:cs typeface="Bricolage Grotesque Semi Bold" pitchFamily="34" charset="-120"/>
              </a:rPr>
              <a:t>Key Findings</a:t>
            </a:r>
            <a:endParaRPr lang="en-US" sz="1350" dirty="0"/>
          </a:p>
        </p:txBody>
      </p:sp>
      <p:sp>
        <p:nvSpPr>
          <p:cNvPr id="15" name="Shape 9"/>
          <p:cNvSpPr/>
          <p:nvPr/>
        </p:nvSpPr>
        <p:spPr>
          <a:xfrm>
            <a:off x="4746947" y="1861245"/>
            <a:ext cx="3913436" cy="808434"/>
          </a:xfrm>
          <a:prstGeom prst="roundRect">
            <a:avLst>
              <a:gd name="adj" fmla="val 7250"/>
            </a:avLst>
          </a:prstGeom>
          <a:solidFill>
            <a:srgbClr val="B6FCB8"/>
          </a:solidFill>
          <a:ln/>
        </p:spPr>
      </p:sp>
      <p:pic>
        <p:nvPicPr>
          <p:cNvPr id="16" name="Image 4" descr="preencoded.png">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4886474" y="2070646"/>
            <a:ext cx="174427" cy="139526"/>
          </a:xfrm>
          <a:prstGeom prst="rect">
            <a:avLst/>
          </a:prstGeom>
        </p:spPr>
      </p:pic>
      <p:sp>
        <p:nvSpPr>
          <p:cNvPr id="17" name="Text 10"/>
          <p:cNvSpPr/>
          <p:nvPr/>
        </p:nvSpPr>
        <p:spPr>
          <a:xfrm>
            <a:off x="5200427" y="2033439"/>
            <a:ext cx="3320430" cy="44291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700"/>
              </a:lnSpc>
              <a:buNone/>
            </a:pPr>
            <a:r>
              <a:rPr lang="en-US" sz="1050" b="1" dirty="0">
                <a:solidFill>
                  <a:srgbClr val="00000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Middle-aged</a:t>
            </a:r>
            <a:pPr algn="l" indent="0" marL="0">
              <a:lnSpc>
                <a:spcPts val="1700"/>
              </a:lnSpc>
              <a:buNone/>
            </a:pPr>
            <a:r>
              <a:rPr lang="en-US" sz="1050" dirty="0">
                <a:solidFill>
                  <a:srgbClr val="00000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customers (31–54) recorded the highest bike purchase volume</a:t>
            </a:r>
            <a:endParaRPr lang="en-US" sz="1050" dirty="0"/>
          </a:p>
        </p:txBody>
      </p:sp>
      <p:sp>
        <p:nvSpPr>
          <p:cNvPr id="18" name="Shape 11"/>
          <p:cNvSpPr/>
          <p:nvPr/>
        </p:nvSpPr>
        <p:spPr>
          <a:xfrm>
            <a:off x="4746947" y="2824163"/>
            <a:ext cx="3913436" cy="808434"/>
          </a:xfrm>
          <a:prstGeom prst="roundRect">
            <a:avLst>
              <a:gd name="adj" fmla="val 7250"/>
            </a:avLst>
          </a:prstGeom>
          <a:solidFill>
            <a:srgbClr val="B6FCB8"/>
          </a:solidFill>
          <a:ln/>
        </p:spPr>
      </p:sp>
      <p:pic>
        <p:nvPicPr>
          <p:cNvPr id="19" name="Image 5" descr="preencoded.png">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4886474" y="3033564"/>
            <a:ext cx="174427" cy="139526"/>
          </a:xfrm>
          <a:prstGeom prst="rect">
            <a:avLst/>
          </a:prstGeom>
        </p:spPr>
      </p:pic>
      <p:sp>
        <p:nvSpPr>
          <p:cNvPr id="20" name="Text 12"/>
          <p:cNvSpPr/>
          <p:nvPr/>
        </p:nvSpPr>
        <p:spPr>
          <a:xfrm>
            <a:off x="5200427" y="2996357"/>
            <a:ext cx="3320430" cy="44291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700"/>
              </a:lnSpc>
              <a:buNone/>
            </a:pPr>
            <a:r>
              <a:rPr lang="en-US" sz="1050" b="1" dirty="0">
                <a:solidFill>
                  <a:srgbClr val="00000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Higher income</a:t>
            </a:r>
            <a:pPr algn="l" indent="0" marL="0">
              <a:lnSpc>
                <a:spcPts val="1700"/>
              </a:lnSpc>
              <a:buNone/>
            </a:pPr>
            <a:r>
              <a:rPr lang="en-US" sz="1050" dirty="0">
                <a:solidFill>
                  <a:srgbClr val="00000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customers showed significantly greater purchase likelihood</a:t>
            </a:r>
            <a:endParaRPr lang="en-US" sz="1050" dirty="0"/>
          </a:p>
        </p:txBody>
      </p:sp>
      <p:sp>
        <p:nvSpPr>
          <p:cNvPr id="21" name="Shape 13"/>
          <p:cNvSpPr/>
          <p:nvPr/>
        </p:nvSpPr>
        <p:spPr>
          <a:xfrm>
            <a:off x="4746947" y="3787080"/>
            <a:ext cx="3913436" cy="808434"/>
          </a:xfrm>
          <a:prstGeom prst="roundRect">
            <a:avLst>
              <a:gd name="adj" fmla="val 7250"/>
            </a:avLst>
          </a:prstGeom>
          <a:solidFill>
            <a:srgbClr val="B6FCB8"/>
          </a:solidFill>
          <a:ln/>
        </p:spPr>
      </p:sp>
      <p:pic>
        <p:nvPicPr>
          <p:cNvPr id="22" name="Image 6" descr="preencoded.png">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4886474" y="3996482"/>
            <a:ext cx="174427" cy="139526"/>
          </a:xfrm>
          <a:prstGeom prst="rect">
            <a:avLst/>
          </a:prstGeom>
        </p:spPr>
      </p:pic>
      <p:sp>
        <p:nvSpPr>
          <p:cNvPr id="23" name="Text 14"/>
          <p:cNvSpPr/>
          <p:nvPr/>
        </p:nvSpPr>
        <p:spPr>
          <a:xfrm>
            <a:off x="5200427" y="3959275"/>
            <a:ext cx="3320430" cy="44291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700"/>
              </a:lnSpc>
              <a:buNone/>
            </a:pPr>
            <a:r>
              <a:rPr lang="en-US" sz="1050" dirty="0">
                <a:solidFill>
                  <a:srgbClr val="00000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Customers with </a:t>
            </a:r>
            <a:pPr algn="l" indent="0" marL="0">
              <a:lnSpc>
                <a:spcPts val="1700"/>
              </a:lnSpc>
              <a:buNone/>
            </a:pPr>
            <a:r>
              <a:rPr lang="en-US" sz="1050" b="1" dirty="0">
                <a:solidFill>
                  <a:srgbClr val="00000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short commute distances</a:t>
            </a:r>
            <a:pPr algn="l" indent="0" marL="0">
              <a:lnSpc>
                <a:spcPts val="1700"/>
              </a:lnSpc>
              <a:buNone/>
            </a:pPr>
            <a:r>
              <a:rPr lang="en-US" sz="1050" dirty="0">
                <a:solidFill>
                  <a:srgbClr val="00000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were most likely to purchase a bike</a:t>
            </a:r>
            <a:endParaRPr lang="en-US" sz="10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543550" y="0"/>
            <a:ext cx="3600450" cy="51435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465162" y="463674"/>
            <a:ext cx="818480" cy="244376"/>
          </a:xfrm>
          <a:prstGeom prst="roundRect">
            <a:avLst>
              <a:gd name="adj" fmla="val 18274"/>
            </a:avLst>
          </a:prstGeom>
          <a:solidFill>
            <a:srgbClr val="F8ECD3"/>
          </a:solidFill>
          <a:ln/>
        </p:spPr>
      </p:sp>
      <p:sp>
        <p:nvSpPr>
          <p:cNvPr id="4" name="Text 1"/>
          <p:cNvSpPr/>
          <p:nvPr/>
        </p:nvSpPr>
        <p:spPr>
          <a:xfrm>
            <a:off x="544860" y="503486"/>
            <a:ext cx="659085" cy="16475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250"/>
              </a:lnSpc>
              <a:buNone/>
            </a:pPr>
            <a:r>
              <a:rPr lang="en-US" sz="800" dirty="0">
                <a:solidFill>
                  <a:srgbClr val="2C292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DASHBOARD</a:t>
            </a:r>
            <a:endParaRPr lang="en-US" sz="800" dirty="0"/>
          </a:p>
        </p:txBody>
      </p:sp>
      <p:sp>
        <p:nvSpPr>
          <p:cNvPr id="5" name="Text 2"/>
          <p:cNvSpPr/>
          <p:nvPr/>
        </p:nvSpPr>
        <p:spPr>
          <a:xfrm>
            <a:off x="465162" y="757833"/>
            <a:ext cx="4784675" cy="83061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250"/>
              </a:lnSpc>
              <a:buNone/>
            </a:pPr>
            <a:r>
              <a:rPr lang="en-US" sz="2600" dirty="0">
                <a:solidFill>
                  <a:srgbClr val="2C2926"/>
                </a:solidFill>
                <a:latin typeface="Bricolage Grotesque Semi Bold" pitchFamily="34" charset="0"/>
                <a:ea typeface="Bricolage Grotesque Semi Bold" pitchFamily="34" charset="-122"/>
                <a:cs typeface="Bricolage Grotesque Semi Bold" pitchFamily="34" charset="-120"/>
              </a:rPr>
              <a:t>Interactive Dashboard Overview</a:t>
            </a:r>
            <a:endParaRPr lang="en-US" sz="2600" dirty="0"/>
          </a:p>
        </p:txBody>
      </p:sp>
      <p:sp>
        <p:nvSpPr>
          <p:cNvPr id="6" name="Shape 3"/>
          <p:cNvSpPr/>
          <p:nvPr/>
        </p:nvSpPr>
        <p:spPr>
          <a:xfrm>
            <a:off x="465162" y="1775296"/>
            <a:ext cx="2330053" cy="1492969"/>
          </a:xfrm>
          <a:prstGeom prst="roundRect">
            <a:avLst>
              <a:gd name="adj" fmla="val 3739"/>
            </a:avLst>
          </a:prstGeom>
          <a:solidFill>
            <a:srgbClr val="FFFFFF"/>
          </a:solidFill>
          <a:ln w="4763">
            <a:solidFill>
              <a:srgbClr val="F8ECD3"/>
            </a:solidFill>
            <a:prstDash val="solid"/>
          </a:ln>
        </p:spPr>
      </p:sp>
      <p:pic>
        <p:nvPicPr>
          <p:cNvPr id="7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2828" y="1912962"/>
            <a:ext cx="398711" cy="398711"/>
          </a:xfrm>
          <a:prstGeom prst="rect">
            <a:avLst/>
          </a:prstGeom>
        </p:spPr>
      </p:pic>
      <p:pic>
        <p:nvPicPr>
          <p:cNvPr id="8" name="Image 2" descr="preencoded.png">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712440" y="2022574"/>
            <a:ext cx="179412" cy="179412"/>
          </a:xfrm>
          <a:prstGeom prst="rect">
            <a:avLst/>
          </a:prstGeom>
        </p:spPr>
      </p:pic>
      <p:sp>
        <p:nvSpPr>
          <p:cNvPr id="9" name="Text 4"/>
          <p:cNvSpPr/>
          <p:nvPr/>
        </p:nvSpPr>
        <p:spPr>
          <a:xfrm>
            <a:off x="602828" y="2436242"/>
            <a:ext cx="1661294" cy="20769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600"/>
              </a:lnSpc>
              <a:buNone/>
            </a:pPr>
            <a:r>
              <a:rPr lang="en-US" sz="1300" dirty="0">
                <a:solidFill>
                  <a:srgbClr val="2C2926"/>
                </a:solidFill>
                <a:latin typeface="Bricolage Grotesque Semi Bold" pitchFamily="34" charset="0"/>
                <a:ea typeface="Bricolage Grotesque Semi Bold" pitchFamily="34" charset="-122"/>
                <a:cs typeface="Bricolage Grotesque Semi Bold" pitchFamily="34" charset="-120"/>
              </a:rPr>
              <a:t>Slicers</a:t>
            </a:r>
            <a:endParaRPr lang="en-US" sz="1300" dirty="0"/>
          </a:p>
        </p:txBody>
      </p:sp>
      <p:sp>
        <p:nvSpPr>
          <p:cNvPr id="10" name="Text 5"/>
          <p:cNvSpPr/>
          <p:nvPr/>
        </p:nvSpPr>
        <p:spPr>
          <a:xfrm>
            <a:off x="602828" y="2718643"/>
            <a:ext cx="2054721" cy="4119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00"/>
              </a:lnSpc>
              <a:buNone/>
            </a:pPr>
            <a:r>
              <a:rPr lang="en-US" sz="1000" dirty="0">
                <a:solidFill>
                  <a:srgbClr val="2C292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Filter by </a:t>
            </a:r>
            <a:pPr algn="l" indent="0" marL="0">
              <a:lnSpc>
                <a:spcPts val="1600"/>
              </a:lnSpc>
              <a:buNone/>
            </a:pPr>
            <a:r>
              <a:rPr lang="en-US" sz="1000" b="1" dirty="0">
                <a:solidFill>
                  <a:srgbClr val="2C292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Marital Status</a:t>
            </a:r>
            <a:pPr algn="l" indent="0" marL="0">
              <a:lnSpc>
                <a:spcPts val="1600"/>
              </a:lnSpc>
              <a:buNone/>
            </a:pPr>
            <a:r>
              <a:rPr lang="en-US" sz="1000" dirty="0">
                <a:solidFill>
                  <a:srgbClr val="2C292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, </a:t>
            </a:r>
            <a:pPr algn="l" indent="0" marL="0">
              <a:lnSpc>
                <a:spcPts val="1600"/>
              </a:lnSpc>
              <a:buNone/>
            </a:pPr>
            <a:r>
              <a:rPr lang="en-US" sz="1000" b="1" dirty="0">
                <a:solidFill>
                  <a:srgbClr val="2C292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Region</a:t>
            </a:r>
            <a:pPr algn="l" indent="0" marL="0">
              <a:lnSpc>
                <a:spcPts val="1600"/>
              </a:lnSpc>
              <a:buNone/>
            </a:pPr>
            <a:r>
              <a:rPr lang="en-US" sz="1000" dirty="0">
                <a:solidFill>
                  <a:srgbClr val="2C292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, and </a:t>
            </a:r>
            <a:pPr algn="l" indent="0" marL="0">
              <a:lnSpc>
                <a:spcPts val="1600"/>
              </a:lnSpc>
              <a:buNone/>
            </a:pPr>
            <a:r>
              <a:rPr lang="en-US" sz="1000" b="1" dirty="0">
                <a:solidFill>
                  <a:srgbClr val="2C292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Education</a:t>
            </a:r>
            <a:pPr algn="l" indent="0" marL="0">
              <a:lnSpc>
                <a:spcPts val="1600"/>
              </a:lnSpc>
              <a:buNone/>
            </a:pPr>
            <a:r>
              <a:rPr lang="en-US" sz="1000" dirty="0">
                <a:solidFill>
                  <a:srgbClr val="2C292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dynamically</a:t>
            </a:r>
            <a:endParaRPr lang="en-US" sz="1000" dirty="0"/>
          </a:p>
        </p:txBody>
      </p:sp>
      <p:sp>
        <p:nvSpPr>
          <p:cNvPr id="11" name="Shape 6"/>
          <p:cNvSpPr/>
          <p:nvPr/>
        </p:nvSpPr>
        <p:spPr>
          <a:xfrm>
            <a:off x="2919785" y="1775296"/>
            <a:ext cx="2330053" cy="1492969"/>
          </a:xfrm>
          <a:prstGeom prst="roundRect">
            <a:avLst>
              <a:gd name="adj" fmla="val 3739"/>
            </a:avLst>
          </a:prstGeom>
          <a:solidFill>
            <a:srgbClr val="FFFFFF"/>
          </a:solidFill>
          <a:ln w="4763">
            <a:solidFill>
              <a:srgbClr val="F8ECD3"/>
            </a:solidFill>
            <a:prstDash val="solid"/>
          </a:ln>
        </p:spPr>
      </p:sp>
      <p:pic>
        <p:nvPicPr>
          <p:cNvPr id="12" name="Image 3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057451" y="1912962"/>
            <a:ext cx="398711" cy="398711"/>
          </a:xfrm>
          <a:prstGeom prst="rect">
            <a:avLst/>
          </a:prstGeom>
        </p:spPr>
      </p:pic>
      <p:pic>
        <p:nvPicPr>
          <p:cNvPr id="13" name="Image 4" descr="preencoded.png">    </p:cNvPr>
          <p:cNvPicPr>
            <a:picLocks noChangeAspect="1"/>
          </p:cNvPicPr>
          <p:nvPr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3167062" y="2022574"/>
            <a:ext cx="179412" cy="179412"/>
          </a:xfrm>
          <a:prstGeom prst="rect">
            <a:avLst/>
          </a:prstGeom>
        </p:spPr>
      </p:pic>
      <p:sp>
        <p:nvSpPr>
          <p:cNvPr id="14" name="Text 7"/>
          <p:cNvSpPr/>
          <p:nvPr/>
        </p:nvSpPr>
        <p:spPr>
          <a:xfrm>
            <a:off x="3057451" y="2436242"/>
            <a:ext cx="1661294" cy="20769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600"/>
              </a:lnSpc>
              <a:buNone/>
            </a:pPr>
            <a:r>
              <a:rPr lang="en-US" sz="1300" dirty="0">
                <a:solidFill>
                  <a:srgbClr val="2C2926"/>
                </a:solidFill>
                <a:latin typeface="Bricolage Grotesque Semi Bold" pitchFamily="34" charset="0"/>
                <a:ea typeface="Bricolage Grotesque Semi Bold" pitchFamily="34" charset="-122"/>
                <a:cs typeface="Bricolage Grotesque Semi Bold" pitchFamily="34" charset="-120"/>
              </a:rPr>
              <a:t>Pivot Charts</a:t>
            </a:r>
            <a:endParaRPr lang="en-US" sz="1300" dirty="0"/>
          </a:p>
        </p:txBody>
      </p:sp>
      <p:sp>
        <p:nvSpPr>
          <p:cNvPr id="15" name="Text 8"/>
          <p:cNvSpPr/>
          <p:nvPr/>
        </p:nvSpPr>
        <p:spPr>
          <a:xfrm>
            <a:off x="3057451" y="2718643"/>
            <a:ext cx="2054721" cy="4119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00"/>
              </a:lnSpc>
              <a:buNone/>
            </a:pPr>
            <a:r>
              <a:rPr lang="en-US" sz="1000" dirty="0">
                <a:solidFill>
                  <a:srgbClr val="2C292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Avg Income, Age Brackets, and Commute Distance visualized</a:t>
            </a:r>
            <a:endParaRPr lang="en-US" sz="1000" dirty="0"/>
          </a:p>
        </p:txBody>
      </p:sp>
      <p:sp>
        <p:nvSpPr>
          <p:cNvPr id="16" name="Shape 9"/>
          <p:cNvSpPr/>
          <p:nvPr/>
        </p:nvSpPr>
        <p:spPr>
          <a:xfrm>
            <a:off x="465162" y="3392835"/>
            <a:ext cx="4784675" cy="1286991"/>
          </a:xfrm>
          <a:prstGeom prst="roundRect">
            <a:avLst>
              <a:gd name="adj" fmla="val 4337"/>
            </a:avLst>
          </a:prstGeom>
          <a:solidFill>
            <a:srgbClr val="FFFFFF"/>
          </a:solidFill>
          <a:ln w="4763">
            <a:solidFill>
              <a:srgbClr val="F8ECD3"/>
            </a:solidFill>
            <a:prstDash val="solid"/>
          </a:ln>
        </p:spPr>
      </p:sp>
      <p:pic>
        <p:nvPicPr>
          <p:cNvPr id="17" name="Image 5" descr="preencoded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02828" y="3530501"/>
            <a:ext cx="398711" cy="398711"/>
          </a:xfrm>
          <a:prstGeom prst="rect">
            <a:avLst/>
          </a:prstGeom>
        </p:spPr>
      </p:pic>
      <p:pic>
        <p:nvPicPr>
          <p:cNvPr id="18" name="Image 6" descr="preencoded.png">    </p:cNvPr>
          <p:cNvPicPr>
            <a:picLocks noChangeAspect="1"/>
          </p:cNvPicPr>
          <p:nvPr/>
        </p:nvPicPr>
        <p:blipFill>
          <a:blip r:embed="rId9">
            <a:extLs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712440" y="3640113"/>
            <a:ext cx="179412" cy="179412"/>
          </a:xfrm>
          <a:prstGeom prst="rect">
            <a:avLst/>
          </a:prstGeom>
        </p:spPr>
      </p:pic>
      <p:sp>
        <p:nvSpPr>
          <p:cNvPr id="19" name="Text 10"/>
          <p:cNvSpPr/>
          <p:nvPr/>
        </p:nvSpPr>
        <p:spPr>
          <a:xfrm>
            <a:off x="602828" y="4053780"/>
            <a:ext cx="1661294" cy="20769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600"/>
              </a:lnSpc>
              <a:buNone/>
            </a:pPr>
            <a:r>
              <a:rPr lang="en-US" sz="1300" dirty="0">
                <a:solidFill>
                  <a:srgbClr val="2C2926"/>
                </a:solidFill>
                <a:latin typeface="Bricolage Grotesque Semi Bold" pitchFamily="34" charset="0"/>
                <a:ea typeface="Bricolage Grotesque Semi Bold" pitchFamily="34" charset="-122"/>
                <a:cs typeface="Bricolage Grotesque Semi Bold" pitchFamily="34" charset="-120"/>
              </a:rPr>
              <a:t>Interactivity</a:t>
            </a:r>
            <a:endParaRPr lang="en-US" sz="1300" dirty="0"/>
          </a:p>
        </p:txBody>
      </p:sp>
      <p:sp>
        <p:nvSpPr>
          <p:cNvPr id="20" name="Text 11"/>
          <p:cNvSpPr/>
          <p:nvPr/>
        </p:nvSpPr>
        <p:spPr>
          <a:xfrm>
            <a:off x="602828" y="4336182"/>
            <a:ext cx="4509343" cy="20597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600"/>
              </a:lnSpc>
              <a:buNone/>
            </a:pPr>
            <a:r>
              <a:rPr lang="en-US" sz="1000" dirty="0">
                <a:solidFill>
                  <a:srgbClr val="2C292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All charts update instantly when slicer selections change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96119" y="599777"/>
            <a:ext cx="1406798" cy="266402"/>
          </a:xfrm>
          <a:prstGeom prst="roundRect">
            <a:avLst>
              <a:gd name="adj" fmla="val 17880"/>
            </a:avLst>
          </a:prstGeom>
          <a:solidFill>
            <a:srgbClr val="F8ECD3"/>
          </a:solidFill>
          <a:ln/>
        </p:spPr>
      </p:sp>
      <p:sp>
        <p:nvSpPr>
          <p:cNvPr id="3" name="Text 1"/>
          <p:cNvSpPr/>
          <p:nvPr/>
        </p:nvSpPr>
        <p:spPr>
          <a:xfrm>
            <a:off x="581174" y="642268"/>
            <a:ext cx="1236687" cy="18142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400"/>
              </a:lnSpc>
              <a:buNone/>
            </a:pPr>
            <a:r>
              <a:rPr lang="en-US" sz="850" dirty="0">
                <a:solidFill>
                  <a:srgbClr val="2C292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DASHBOARD PREVIEW</a:t>
            </a:r>
            <a:endParaRPr lang="en-US" sz="850" dirty="0"/>
          </a:p>
        </p:txBody>
      </p:sp>
      <p:sp>
        <p:nvSpPr>
          <p:cNvPr id="4" name="Text 2"/>
          <p:cNvSpPr/>
          <p:nvPr/>
        </p:nvSpPr>
        <p:spPr>
          <a:xfrm>
            <a:off x="496119" y="922883"/>
            <a:ext cx="3788494" cy="44298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3450"/>
              </a:lnSpc>
              <a:buNone/>
            </a:pPr>
            <a:r>
              <a:rPr lang="en-US" sz="2750" dirty="0">
                <a:solidFill>
                  <a:srgbClr val="2C2926"/>
                </a:solidFill>
                <a:latin typeface="Bricolage Grotesque Semi Bold" pitchFamily="34" charset="0"/>
                <a:ea typeface="Bricolage Grotesque Semi Bold" pitchFamily="34" charset="-122"/>
                <a:cs typeface="Bricolage Grotesque Semi Bold" pitchFamily="34" charset="-120"/>
              </a:rPr>
              <a:t>Dashboard Snapshots</a:t>
            </a:r>
            <a:endParaRPr lang="en-US" sz="2750" dirty="0"/>
          </a:p>
        </p:txBody>
      </p:sp>
      <p:sp>
        <p:nvSpPr>
          <p:cNvPr id="5" name="Text 3"/>
          <p:cNvSpPr/>
          <p:nvPr/>
        </p:nvSpPr>
        <p:spPr>
          <a:xfrm>
            <a:off x="496119" y="1578471"/>
            <a:ext cx="8151763" cy="4536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750"/>
              </a:lnSpc>
              <a:buNone/>
            </a:pPr>
            <a:r>
              <a:rPr lang="en-US" sz="1100" dirty="0">
                <a:solidFill>
                  <a:srgbClr val="2C292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Visual previews of the Excel dashboard — showcasing the Pivot Charts, slicer panels, and customer analysis views built in this project.</a:t>
            </a:r>
            <a:endParaRPr lang="en-US" sz="1100" dirty="0"/>
          </a:p>
        </p:txBody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586410" y="2282800"/>
            <a:ext cx="3971106" cy="2126456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96119" y="1064865"/>
            <a:ext cx="1601763" cy="266402"/>
          </a:xfrm>
          <a:prstGeom prst="roundRect">
            <a:avLst>
              <a:gd name="adj" fmla="val 17880"/>
            </a:avLst>
          </a:prstGeom>
          <a:solidFill>
            <a:srgbClr val="F8ECD3"/>
          </a:solidFill>
          <a:ln/>
        </p:spPr>
      </p:sp>
      <p:sp>
        <p:nvSpPr>
          <p:cNvPr id="3" name="Text 1"/>
          <p:cNvSpPr/>
          <p:nvPr/>
        </p:nvSpPr>
        <p:spPr>
          <a:xfrm>
            <a:off x="581174" y="1107356"/>
            <a:ext cx="1431652" cy="18142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400"/>
              </a:lnSpc>
              <a:buNone/>
            </a:pPr>
            <a:r>
              <a:rPr lang="en-US" sz="850" dirty="0">
                <a:solidFill>
                  <a:srgbClr val="2C292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INSIGHTS &amp; CONCLUSION</a:t>
            </a:r>
            <a:endParaRPr lang="en-US" sz="850" dirty="0"/>
          </a:p>
        </p:txBody>
      </p:sp>
      <p:sp>
        <p:nvSpPr>
          <p:cNvPr id="4" name="Text 2"/>
          <p:cNvSpPr/>
          <p:nvPr/>
        </p:nvSpPr>
        <p:spPr>
          <a:xfrm>
            <a:off x="496119" y="1387971"/>
            <a:ext cx="4422428" cy="44298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3450"/>
              </a:lnSpc>
              <a:buNone/>
            </a:pPr>
            <a:r>
              <a:rPr lang="en-US" sz="2750" dirty="0">
                <a:solidFill>
                  <a:srgbClr val="2C2926"/>
                </a:solidFill>
                <a:latin typeface="Bricolage Grotesque Semi Bold" pitchFamily="34" charset="0"/>
                <a:ea typeface="Bricolage Grotesque Semi Bold" pitchFamily="34" charset="-122"/>
                <a:cs typeface="Bricolage Grotesque Semi Bold" pitchFamily="34" charset="-120"/>
              </a:rPr>
              <a:t>Key Insights &amp; Takeaways</a:t>
            </a:r>
            <a:endParaRPr lang="en-US" sz="2750" dirty="0"/>
          </a:p>
        </p:txBody>
      </p:sp>
      <p:sp>
        <p:nvSpPr>
          <p:cNvPr id="5" name="Text 3"/>
          <p:cNvSpPr/>
          <p:nvPr/>
        </p:nvSpPr>
        <p:spPr>
          <a:xfrm>
            <a:off x="496119" y="1887662"/>
            <a:ext cx="1772022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700"/>
              </a:lnSpc>
              <a:buNone/>
            </a:pPr>
            <a:r>
              <a:rPr lang="en-US" sz="1350" dirty="0">
                <a:solidFill>
                  <a:srgbClr val="2C2926"/>
                </a:solidFill>
                <a:latin typeface="Bricolage Grotesque Semi Bold" pitchFamily="34" charset="0"/>
                <a:ea typeface="Bricolage Grotesque Semi Bold" pitchFamily="34" charset="-122"/>
                <a:cs typeface="Bricolage Grotesque Semi Bold" pitchFamily="34" charset="-120"/>
              </a:rPr>
              <a:t>Top Findings</a:t>
            </a:r>
            <a:endParaRPr lang="en-US" sz="1350" dirty="0"/>
          </a:p>
        </p:txBody>
      </p:sp>
      <p:sp>
        <p:nvSpPr>
          <p:cNvPr id="6" name="Shape 4"/>
          <p:cNvSpPr/>
          <p:nvPr/>
        </p:nvSpPr>
        <p:spPr>
          <a:xfrm>
            <a:off x="496119" y="2321719"/>
            <a:ext cx="1931566" cy="1756842"/>
          </a:xfrm>
          <a:prstGeom prst="roundRect">
            <a:avLst>
              <a:gd name="adj" fmla="val 5205"/>
            </a:avLst>
          </a:prstGeom>
          <a:solidFill>
            <a:srgbClr val="FFFFFF">
              <a:alpha val="95000"/>
            </a:srgbClr>
          </a:solidFill>
          <a:ln w="19050">
            <a:solidFill>
              <a:srgbClr val="F8ECD3"/>
            </a:solidFill>
            <a:prstDash val="solid"/>
          </a:ln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77069" y="2321719"/>
            <a:ext cx="76200" cy="1756842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714077" y="2482528"/>
            <a:ext cx="1552798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700"/>
              </a:lnSpc>
              <a:buNone/>
            </a:pPr>
            <a:r>
              <a:rPr lang="en-US" sz="1350" dirty="0">
                <a:solidFill>
                  <a:srgbClr val="2C2926"/>
                </a:solidFill>
                <a:latin typeface="Bricolage Grotesque Semi Bold" pitchFamily="34" charset="0"/>
                <a:ea typeface="Bricolage Grotesque Semi Bold" pitchFamily="34" charset="-122"/>
                <a:cs typeface="Bricolage Grotesque Semi Bold" pitchFamily="34" charset="-120"/>
              </a:rPr>
              <a:t>Age</a:t>
            </a:r>
            <a:endParaRPr lang="en-US" sz="1350" dirty="0"/>
          </a:p>
        </p:txBody>
      </p:sp>
      <p:sp>
        <p:nvSpPr>
          <p:cNvPr id="9" name="Text 6"/>
          <p:cNvSpPr/>
          <p:nvPr/>
        </p:nvSpPr>
        <p:spPr>
          <a:xfrm>
            <a:off x="714077" y="2789039"/>
            <a:ext cx="1552798" cy="9072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750"/>
              </a:lnSpc>
              <a:buNone/>
            </a:pPr>
            <a:r>
              <a:rPr lang="en-US" sz="1100" dirty="0">
                <a:solidFill>
                  <a:srgbClr val="2C292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Middle-aged customers (31–54) were the most likely to purchase bikes</a:t>
            </a:r>
            <a:endParaRPr lang="en-US" sz="1100" dirty="0"/>
          </a:p>
        </p:txBody>
      </p:sp>
      <p:sp>
        <p:nvSpPr>
          <p:cNvPr id="10" name="Shape 7"/>
          <p:cNvSpPr/>
          <p:nvPr/>
        </p:nvSpPr>
        <p:spPr>
          <a:xfrm>
            <a:off x="2569443" y="2321719"/>
            <a:ext cx="1931640" cy="1756842"/>
          </a:xfrm>
          <a:prstGeom prst="roundRect">
            <a:avLst>
              <a:gd name="adj" fmla="val 5205"/>
            </a:avLst>
          </a:prstGeom>
          <a:solidFill>
            <a:srgbClr val="FFFFFF">
              <a:alpha val="95000"/>
            </a:srgbClr>
          </a:solidFill>
          <a:ln w="19050">
            <a:solidFill>
              <a:srgbClr val="F8ECD3"/>
            </a:solidFill>
            <a:prstDash val="solid"/>
          </a:ln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50393" y="2321719"/>
            <a:ext cx="76200" cy="1756842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2787402" y="2482528"/>
            <a:ext cx="1552873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700"/>
              </a:lnSpc>
              <a:buNone/>
            </a:pPr>
            <a:r>
              <a:rPr lang="en-US" sz="1350" dirty="0">
                <a:solidFill>
                  <a:srgbClr val="2C2926"/>
                </a:solidFill>
                <a:latin typeface="Bricolage Grotesque Semi Bold" pitchFamily="34" charset="0"/>
                <a:ea typeface="Bricolage Grotesque Semi Bold" pitchFamily="34" charset="-122"/>
                <a:cs typeface="Bricolage Grotesque Semi Bold" pitchFamily="34" charset="-120"/>
              </a:rPr>
              <a:t>Commute</a:t>
            </a:r>
            <a:endParaRPr lang="en-US" sz="1350" dirty="0"/>
          </a:p>
        </p:txBody>
      </p:sp>
      <p:sp>
        <p:nvSpPr>
          <p:cNvPr id="13" name="Text 9"/>
          <p:cNvSpPr/>
          <p:nvPr/>
        </p:nvSpPr>
        <p:spPr>
          <a:xfrm>
            <a:off x="2787402" y="2789039"/>
            <a:ext cx="1552873" cy="9072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750"/>
              </a:lnSpc>
              <a:buNone/>
            </a:pPr>
            <a:r>
              <a:rPr lang="en-US" sz="1100" dirty="0">
                <a:solidFill>
                  <a:srgbClr val="2C292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Shorter commutes strongly correlated with higher bike purchase rates</a:t>
            </a:r>
            <a:endParaRPr lang="en-US" sz="1100" dirty="0"/>
          </a:p>
        </p:txBody>
      </p:sp>
      <p:sp>
        <p:nvSpPr>
          <p:cNvPr id="14" name="Shape 10"/>
          <p:cNvSpPr/>
          <p:nvPr/>
        </p:nvSpPr>
        <p:spPr>
          <a:xfrm>
            <a:off x="4642842" y="2321719"/>
            <a:ext cx="1931640" cy="1756842"/>
          </a:xfrm>
          <a:prstGeom prst="roundRect">
            <a:avLst>
              <a:gd name="adj" fmla="val 5205"/>
            </a:avLst>
          </a:prstGeom>
          <a:solidFill>
            <a:srgbClr val="FFFFFF">
              <a:alpha val="95000"/>
            </a:srgbClr>
          </a:solidFill>
          <a:ln w="19050">
            <a:solidFill>
              <a:srgbClr val="F8ECD3"/>
            </a:solidFill>
            <a:prstDash val="solid"/>
          </a:ln>
        </p:spPr>
      </p:sp>
      <p:pic>
        <p:nvPicPr>
          <p:cNvPr id="15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623792" y="2321719"/>
            <a:ext cx="76200" cy="1756842"/>
          </a:xfrm>
          <a:prstGeom prst="rect">
            <a:avLst/>
          </a:prstGeom>
        </p:spPr>
      </p:pic>
      <p:sp>
        <p:nvSpPr>
          <p:cNvPr id="16" name="Text 11"/>
          <p:cNvSpPr/>
          <p:nvPr/>
        </p:nvSpPr>
        <p:spPr>
          <a:xfrm>
            <a:off x="4860801" y="2482528"/>
            <a:ext cx="1552873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700"/>
              </a:lnSpc>
              <a:buNone/>
            </a:pPr>
            <a:r>
              <a:rPr lang="en-US" sz="1350" dirty="0">
                <a:solidFill>
                  <a:srgbClr val="2C2926"/>
                </a:solidFill>
                <a:latin typeface="Bricolage Grotesque Semi Bold" pitchFamily="34" charset="0"/>
                <a:ea typeface="Bricolage Grotesque Semi Bold" pitchFamily="34" charset="-122"/>
                <a:cs typeface="Bricolage Grotesque Semi Bold" pitchFamily="34" charset="-120"/>
              </a:rPr>
              <a:t>Income</a:t>
            </a:r>
            <a:endParaRPr lang="en-US" sz="1350" dirty="0"/>
          </a:p>
        </p:txBody>
      </p:sp>
      <p:sp>
        <p:nvSpPr>
          <p:cNvPr id="17" name="Text 12"/>
          <p:cNvSpPr/>
          <p:nvPr/>
        </p:nvSpPr>
        <p:spPr>
          <a:xfrm>
            <a:off x="4860801" y="2789039"/>
            <a:ext cx="1552873" cy="9072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750"/>
              </a:lnSpc>
              <a:buNone/>
            </a:pPr>
            <a:r>
              <a:rPr lang="en-US" sz="1100" dirty="0">
                <a:solidFill>
                  <a:srgbClr val="2C292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Higher-income customers converted at significantly greater rates</a:t>
            </a:r>
            <a:endParaRPr lang="en-US" sz="1100" dirty="0"/>
          </a:p>
        </p:txBody>
      </p:sp>
      <p:sp>
        <p:nvSpPr>
          <p:cNvPr id="18" name="Shape 13"/>
          <p:cNvSpPr/>
          <p:nvPr/>
        </p:nvSpPr>
        <p:spPr>
          <a:xfrm>
            <a:off x="6716241" y="2321719"/>
            <a:ext cx="1931640" cy="1756842"/>
          </a:xfrm>
          <a:prstGeom prst="roundRect">
            <a:avLst>
              <a:gd name="adj" fmla="val 5205"/>
            </a:avLst>
          </a:prstGeom>
          <a:solidFill>
            <a:srgbClr val="FFFFFF">
              <a:alpha val="95000"/>
            </a:srgbClr>
          </a:solidFill>
          <a:ln w="19050">
            <a:solidFill>
              <a:srgbClr val="F8ECD3"/>
            </a:solidFill>
            <a:prstDash val="solid"/>
          </a:ln>
        </p:spPr>
      </p:sp>
      <p:pic>
        <p:nvPicPr>
          <p:cNvPr id="19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697191" y="2321719"/>
            <a:ext cx="76200" cy="1756842"/>
          </a:xfrm>
          <a:prstGeom prst="rect">
            <a:avLst/>
          </a:prstGeom>
        </p:spPr>
      </p:pic>
      <p:sp>
        <p:nvSpPr>
          <p:cNvPr id="20" name="Text 14"/>
          <p:cNvSpPr/>
          <p:nvPr/>
        </p:nvSpPr>
        <p:spPr>
          <a:xfrm>
            <a:off x="6934200" y="2482528"/>
            <a:ext cx="1552873" cy="44291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700"/>
              </a:lnSpc>
              <a:buNone/>
            </a:pPr>
            <a:r>
              <a:rPr lang="en-US" sz="1350" dirty="0">
                <a:solidFill>
                  <a:srgbClr val="2C2926"/>
                </a:solidFill>
                <a:latin typeface="Bricolage Grotesque Semi Bold" pitchFamily="34" charset="0"/>
                <a:ea typeface="Bricolage Grotesque Semi Bold" pitchFamily="34" charset="-122"/>
                <a:cs typeface="Bricolage Grotesque Semi Bold" pitchFamily="34" charset="-120"/>
              </a:rPr>
              <a:t>Region &amp; Education</a:t>
            </a:r>
            <a:endParaRPr lang="en-US" sz="1350" dirty="0"/>
          </a:p>
        </p:txBody>
      </p:sp>
      <p:sp>
        <p:nvSpPr>
          <p:cNvPr id="21" name="Text 15"/>
          <p:cNvSpPr/>
          <p:nvPr/>
        </p:nvSpPr>
        <p:spPr>
          <a:xfrm>
            <a:off x="6934200" y="3010495"/>
            <a:ext cx="1552873" cy="9072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750"/>
              </a:lnSpc>
              <a:buNone/>
            </a:pPr>
            <a:r>
              <a:rPr lang="en-US" sz="1100" dirty="0">
                <a:solidFill>
                  <a:srgbClr val="2C292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Purchase behavior varied meaningfully across regions and education levels</a:t>
            </a:r>
            <a:endParaRPr lang="en-US" sz="11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543550" y="0"/>
            <a:ext cx="360045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1085404" y="2017142"/>
            <a:ext cx="3544119" cy="44298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3450"/>
              </a:lnSpc>
              <a:buNone/>
            </a:pPr>
            <a:r>
              <a:rPr lang="en-US" sz="2750" dirty="0">
                <a:solidFill>
                  <a:srgbClr val="2C2926"/>
                </a:solidFill>
                <a:latin typeface="Bricolage Grotesque Semi Bold" pitchFamily="34" charset="0"/>
                <a:ea typeface="Bricolage Grotesque Semi Bold" pitchFamily="34" charset="-122"/>
                <a:cs typeface="Bricolage Grotesque Semi Bold" pitchFamily="34" charset="-120"/>
              </a:rPr>
              <a:t>Thank You</a:t>
            </a:r>
            <a:endParaRPr lang="en-US" sz="2750" dirty="0"/>
          </a:p>
        </p:txBody>
      </p:sp>
      <p:sp>
        <p:nvSpPr>
          <p:cNvPr id="4" name="Text 1"/>
          <p:cNvSpPr/>
          <p:nvPr/>
        </p:nvSpPr>
        <p:spPr>
          <a:xfrm>
            <a:off x="496119" y="2672730"/>
            <a:ext cx="4722763" cy="4536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750"/>
              </a:lnSpc>
              <a:buNone/>
            </a:pPr>
            <a:r>
              <a:rPr lang="en-US" sz="1100" dirty="0">
                <a:solidFill>
                  <a:srgbClr val="2C292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Presented by </a:t>
            </a:r>
            <a:pPr algn="ctr" indent="0" marL="0">
              <a:lnSpc>
                <a:spcPts val="1750"/>
              </a:lnSpc>
              <a:buNone/>
            </a:pPr>
            <a:r>
              <a:rPr lang="en-US" sz="1100" b="1" dirty="0">
                <a:solidFill>
                  <a:srgbClr val="2C292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Ashwin M</a:t>
            </a:r>
            <a:endParaRPr lang="en-US" sz="1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9</Slides>
  <Notes>9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2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lastModifiedBy/>
  <cp:revision>1</cp:revision>
  <dcterms:created xsi:type="dcterms:W3CDTF">2026-05-08T05:46:05Z</dcterms:created>
  <dcterms:modified xsi:type="dcterms:W3CDTF">2026-05-08T05:46:05Z</dcterms:modified>
</cp:coreProperties>
</file>